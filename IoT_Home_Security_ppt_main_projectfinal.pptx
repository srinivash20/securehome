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6" r:id="rId3"/>
    <p:sldId id="257" r:id="rId4"/>
    <p:sldId id="258" r:id="rId5"/>
    <p:sldId id="259" r:id="rId6"/>
    <p:sldId id="267" r:id="rId7"/>
    <p:sldId id="260" r:id="rId8"/>
    <p:sldId id="261" r:id="rId9"/>
    <p:sldId id="268" r:id="rId10"/>
    <p:sldId id="262" r:id="rId11"/>
    <p:sldId id="269" r:id="rId12"/>
    <p:sldId id="263" r:id="rId13"/>
    <p:sldId id="264" r:id="rId14"/>
    <p:sldId id="265" r:id="rId15"/>
    <p:sldId id="271"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890" autoAdjust="0"/>
    <p:restoredTop sz="94660"/>
  </p:normalViewPr>
  <p:slideViewPr>
    <p:cSldViewPr snapToGrid="0" snapToObjects="1">
      <p:cViewPr>
        <p:scale>
          <a:sx n="75" d="100"/>
          <a:sy n="75" d="100"/>
        </p:scale>
        <p:origin x="-1699" y="-235"/>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extLst/>
          </a:lstStyle>
          <a:p>
            <a:fld id="{5BCAD085-E8A6-8845-BD4E-CB4CCA059FC4}" type="datetimeFigureOut">
              <a:rPr lang="en-US" smtClean="0"/>
              <a:pPr/>
              <a:t>4/10/2025</a:t>
            </a:fld>
            <a:endParaRPr lang="en-US"/>
          </a:p>
        </p:txBody>
      </p:sp>
      <p:sp>
        <p:nvSpPr>
          <p:cNvPr id="17" name="Footer Placeholder 16"/>
          <p:cNvSpPr>
            <a:spLocks noGrp="1"/>
          </p:cNvSpPr>
          <p:nvPr>
            <p:ph type="ftr" sz="quarter" idx="11"/>
          </p:nvPr>
        </p:nvSpPr>
        <p:spPr/>
        <p:txBody>
          <a:bodyPr/>
          <a:lstStyle>
            <a:extLst/>
          </a:lstStyle>
          <a:p>
            <a:endParaRPr lang="en-US"/>
          </a:p>
        </p:txBody>
      </p:sp>
      <p:sp>
        <p:nvSpPr>
          <p:cNvPr id="29" name="Slide Number Placeholder 28"/>
          <p:cNvSpPr>
            <a:spLocks noGrp="1"/>
          </p:cNvSpPr>
          <p:nvPr>
            <p:ph type="sldNum" sz="quarter" idx="12"/>
          </p:nvPr>
        </p:nvSpPr>
        <p:spPr/>
        <p:txBody>
          <a:bodyPr/>
          <a:lstStyle>
            <a:extLst/>
          </a:lstStyle>
          <a:p>
            <a:fld id="{C1FF6DA9-008F-8B48-92A6-B652298478BF}" type="slidenum">
              <a:rPr lang="en-US" smtClean="0"/>
              <a:pPr/>
              <a:t>‹#›</a:t>
            </a:fld>
            <a:endParaRPr lang="en-US"/>
          </a:p>
        </p:txBody>
      </p:sp>
      <p:sp>
        <p:nvSpPr>
          <p:cNvPr id="32" name="Rectangle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9" name="Rectangle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0"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1"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42"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Titl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smtClean="0"/>
              <a:t>Click to edit Master title style</a:t>
            </a:r>
            <a:endParaRPr kumimoji="0" lang="en-US"/>
          </a:p>
        </p:txBody>
      </p:sp>
      <p:sp>
        <p:nvSpPr>
          <p:cNvPr id="9" name="Subtitl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56" name="Rectangle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5" name="Rectangle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6" name="Rectangle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7" name="Rectangle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BCAD085-E8A6-8845-BD4E-CB4CCA059FC4}" type="datetimeFigureOut">
              <a:rPr lang="en-US" smtClean="0"/>
              <a:pPr/>
              <a:t>4/10/2025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1FF6DA9-008F-8B48-92A6-B652298478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5" name="Freeform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3" name="Freeform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6" name="Freeform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7" name="Freeform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8" name="Freeform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9" name="Freeform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0" name="Freeform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1" name="Freeform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2" name="Freeform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3" name="Freeform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4" name="Freeform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5" name="Freeform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6" name="Freeform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7" name="Freeform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3" name="Text Placeholder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5BCAD085-E8A6-8845-BD4E-CB4CCA059FC4}" type="datetimeFigureOut">
              <a:rPr lang="en-US" smtClean="0"/>
              <a:pPr/>
              <a:t>4/10/2025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1FF6DA9-008F-8B48-92A6-B652298478BF}" type="slidenum">
              <a:rPr lang="en-US" smtClean="0"/>
              <a:pPr/>
              <a:t>‹#›</a:t>
            </a:fld>
            <a:endParaRPr lang="en-US"/>
          </a:p>
        </p:txBody>
      </p:sp>
      <p:sp>
        <p:nvSpPr>
          <p:cNvPr id="7" name="Rectangle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706902" y="512064"/>
            <a:ext cx="8156448" cy="777240"/>
          </a:xfrm>
        </p:spPr>
        <p:txBody>
          <a:bodyPr tIns="64008"/>
          <a:lstStyle>
            <a:lvl1pPr algn="l">
              <a:buNone/>
              <a:defRPr sz="3800" b="0" cap="none" spc="-150" baseline="0"/>
            </a:lvl1pPr>
            <a:extLst/>
          </a:lstStyle>
          <a:p>
            <a:r>
              <a:rPr kumimoji="0" lang="en-US" smtClean="0"/>
              <a:t>Click to edit Master title style</a:t>
            </a:r>
            <a:endParaRPr kumimoji="0" lang="en-US"/>
          </a:p>
        </p:txBody>
      </p:sp>
      <p:sp>
        <p:nvSpPr>
          <p:cNvPr id="8" name="Rectangle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Rectangle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9144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BCAD085-E8A6-8845-BD4E-CB4CCA059FC4}" type="datetimeFigureOut">
              <a:rPr lang="en-US" smtClean="0"/>
              <a:pPr/>
              <a:t>4/10/2025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1FF6DA9-008F-8B48-92A6-B652298478B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504824" y="512064"/>
            <a:ext cx="7772400" cy="914400"/>
          </a:xfrm>
        </p:spPr>
        <p:txBody>
          <a:bodyPr anchor="t"/>
          <a:lstStyle>
            <a:lvl1pPr>
              <a:defRPr sz="400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5BCAD085-E8A6-8845-BD4E-CB4CCA059FC4}" type="datetimeFigureOut">
              <a:rPr lang="en-US" smtClean="0"/>
              <a:pPr/>
              <a:t>4/10/2025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C1FF6DA9-008F-8B48-92A6-B652298478BF}" type="slidenum">
              <a:rPr lang="en-US" smtClean="0"/>
              <a:pPr/>
              <a:t>‹#›</a:t>
            </a:fld>
            <a:endParaRPr lang="en-US"/>
          </a:p>
        </p:txBody>
      </p:sp>
      <p:sp>
        <p:nvSpPr>
          <p:cNvPr id="16" name="Rectangle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7"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8"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9"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0" name="Rectangle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1"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Rectangle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9" name="Rectangle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0" name="Rectangle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914400"/>
          </a:xfrm>
        </p:spPr>
        <p:txBody>
          <a:bodyPr/>
          <a:lstStyle>
            <a:lvl1pPr>
              <a:defRPr sz="4000" cap="none" baseline="0"/>
            </a:lvl1pPr>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5BCAD085-E8A6-8845-BD4E-CB4CCA059FC4}" type="datetimeFigureOut">
              <a:rPr lang="en-US" smtClean="0"/>
              <a:pPr/>
              <a:t>4/10/2025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5BCAD085-E8A6-8845-BD4E-CB4CCA059FC4}" type="datetimeFigureOut">
              <a:rPr lang="en-US" smtClean="0"/>
              <a:pPr/>
              <a:t>4/10/2025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229600" cy="1162050"/>
          </a:xfrm>
        </p:spPr>
        <p:txBody>
          <a:bodyPr anchor="ctr"/>
          <a:lstStyle>
            <a:lvl1pPr algn="l">
              <a:buNone/>
              <a:defRPr sz="3600" b="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BCAD085-E8A6-8845-BD4E-CB4CCA059FC4}" type="datetimeFigureOut">
              <a:rPr lang="en-US" smtClean="0"/>
              <a:pPr/>
              <a:t>4/10/2025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1FF6DA9-008F-8B48-92A6-B652298478B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cxnSp>
        <p:nvCxnSpPr>
          <p:cNvPr id="9" name="Straight Connector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8514581" y="1219200"/>
            <a:ext cx="132763" cy="128466"/>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en-US" smtClean="0"/>
              <a:t>Click icon to add picture</a:t>
            </a:r>
            <a:endParaRPr kumimoji="0" lang="en-US"/>
          </a:p>
        </p:txBody>
      </p:sp>
      <p:sp>
        <p:nvSpPr>
          <p:cNvPr id="4" name="Text Placeholder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grpSp>
        <p:nvGrpSpPr>
          <p:cNvPr id="14" name="Group 13"/>
          <p:cNvGrpSpPr/>
          <p:nvPr/>
        </p:nvGrpSpPr>
        <p:grpSpPr>
          <a:xfrm rot="5400000">
            <a:off x="8666981" y="1371600"/>
            <a:ext cx="132763" cy="128466"/>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8320088" y="1474763"/>
            <a:ext cx="132763" cy="128466"/>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6477000" y="55499"/>
            <a:ext cx="2133600" cy="365125"/>
          </a:xfrm>
        </p:spPr>
        <p:txBody>
          <a:bodyPr/>
          <a:lstStyle>
            <a:extLst/>
          </a:lstStyle>
          <a:p>
            <a:fld id="{5BCAD085-E8A6-8845-BD4E-CB4CCA059FC4}" type="datetimeFigureOut">
              <a:rPr lang="en-US" smtClean="0"/>
              <a:pPr/>
              <a:t>4/10/2025</a:t>
            </a:fld>
            <a:endParaRPr lang="en-US"/>
          </a:p>
        </p:txBody>
      </p:sp>
      <p:sp>
        <p:nvSpPr>
          <p:cNvPr id="6" name="Footer Placeholder 5"/>
          <p:cNvSpPr>
            <a:spLocks noGrp="1"/>
          </p:cNvSpPr>
          <p:nvPr>
            <p:ph type="ftr" sz="quarter" idx="11"/>
          </p:nvPr>
        </p:nvSpPr>
        <p:spPr>
          <a:xfrm>
            <a:off x="914400" y="55499"/>
            <a:ext cx="5562600" cy="365125"/>
          </a:xfrm>
        </p:spPr>
        <p:txBody>
          <a:bodyPr/>
          <a:lstStyle>
            <a:extLst/>
          </a:lstStyle>
          <a:p>
            <a:endParaRPr lang="en-US"/>
          </a:p>
        </p:txBody>
      </p:sp>
      <p:sp>
        <p:nvSpPr>
          <p:cNvPr id="7" name="Slide Number Placeholder 6"/>
          <p:cNvSpPr>
            <a:spLocks noGrp="1"/>
          </p:cNvSpPr>
          <p:nvPr>
            <p:ph type="sldNum" sz="quarter" idx="12"/>
          </p:nvPr>
        </p:nvSpPr>
        <p:spPr>
          <a:xfrm>
            <a:off x="8610600" y="55499"/>
            <a:ext cx="457200" cy="365125"/>
          </a:xfrm>
        </p:spPr>
        <p:txBody>
          <a:bodyPr/>
          <a:lstStyle>
            <a:extLst/>
          </a:lstStyle>
          <a:p>
            <a:fld id="{C1FF6DA9-008F-8B48-92A6-B652298478B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BCAD085-E8A6-8845-BD4E-CB4CCA059FC4}" type="datetimeFigureOut">
              <a:rPr lang="en-US" smtClean="0"/>
              <a:pPr/>
              <a:t>4/10/2025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1FF6DA9-008F-8B48-92A6-B652298478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981200" cy="5851525"/>
          </a:xfrm>
        </p:spPr>
        <p:txBody>
          <a:bodyPr vert="eaVert" anchor="ct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39"/>
            <a:ext cx="58674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BCAD085-E8A6-8845-BD4E-CB4CCA059FC4}" type="datetimeFigureOut">
              <a:rPr lang="en-US" smtClean="0"/>
              <a:pPr/>
              <a:t>4/10/2025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1FF6DA9-008F-8B48-92A6-B652298478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Rectangle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ectangle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ectangle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5"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6"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7"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Title Placeholder 21"/>
          <p:cNvSpPr>
            <a:spLocks noGrp="1"/>
          </p:cNvSpPr>
          <p:nvPr>
            <p:ph type="title"/>
          </p:nvPr>
        </p:nvSpPr>
        <p:spPr>
          <a:xfrm>
            <a:off x="914400" y="512064"/>
            <a:ext cx="7772400" cy="914400"/>
          </a:xfrm>
          <a:prstGeom prst="rect">
            <a:avLst/>
          </a:prstGeom>
        </p:spPr>
        <p:txBody>
          <a:bodyPr vert="horz" anchor="t">
            <a:noAutofit/>
          </a:bodyPr>
          <a:lstStyle>
            <a:extLst/>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783560"/>
            <a:ext cx="7772400" cy="457200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fld id="{5BCAD085-E8A6-8845-BD4E-CB4CCA059FC4}" type="datetimeFigureOut">
              <a:rPr lang="en-US" smtClean="0"/>
              <a:pPr/>
              <a:t>4/10/2025</a:t>
            </a:fld>
            <a:endParaRPr lang="en-US"/>
          </a:p>
        </p:txBody>
      </p:sp>
      <p:sp>
        <p:nvSpPr>
          <p:cNvPr id="3" name="Footer Placeholder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endParaRPr lang="en-US"/>
          </a:p>
        </p:txBody>
      </p:sp>
      <p:sp>
        <p:nvSpPr>
          <p:cNvPr id="23" name="Slide Number Placeholder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fld id="{C1FF6DA9-008F-8B48-92A6-B652298478BF}"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8416" y="971877"/>
            <a:ext cx="7772400" cy="1975104"/>
          </a:xfrm>
        </p:spPr>
        <p:txBody>
          <a:bodyPr/>
          <a:lstStyle/>
          <a:p>
            <a:pPr algn="ctr"/>
            <a:r>
              <a:rPr lang="en-US" dirty="0" smtClean="0">
                <a:latin typeface="Times New Roman" pitchFamily="18" charset="0"/>
                <a:cs typeface="Times New Roman" pitchFamily="18" charset="0"/>
              </a:rPr>
              <a:t>Home Security System with Server Monitoring and Automation Control</a:t>
            </a:r>
            <a:endParaRPr>
              <a:latin typeface="Times New Roman" pitchFamily="18" charset="0"/>
              <a:cs typeface="Times New Roman" pitchFamily="18" charset="0"/>
            </a:endParaRPr>
          </a:p>
        </p:txBody>
      </p:sp>
      <p:sp>
        <p:nvSpPr>
          <p:cNvPr id="3" name="Subtitle 2"/>
          <p:cNvSpPr>
            <a:spLocks noGrp="1"/>
          </p:cNvSpPr>
          <p:nvPr>
            <p:ph type="subTitle" idx="1"/>
          </p:nvPr>
        </p:nvSpPr>
        <p:spPr>
          <a:xfrm>
            <a:off x="363893" y="4161453"/>
            <a:ext cx="7772400" cy="1651517"/>
          </a:xfrm>
        </p:spPr>
        <p:txBody>
          <a:bodyPr>
            <a:normAutofit fontScale="32500" lnSpcReduction="20000"/>
          </a:bodyPr>
          <a:lstStyle/>
          <a:p>
            <a:endParaRPr lang="en-US" i="1" dirty="0" smtClean="0"/>
          </a:p>
          <a:p>
            <a:endParaRPr lang="en-US" i="1" dirty="0" smtClean="0"/>
          </a:p>
          <a:p>
            <a:endParaRPr lang="en-US" i="1" dirty="0" smtClean="0"/>
          </a:p>
          <a:p>
            <a:endParaRPr lang="en-US" i="1" dirty="0" smtClean="0"/>
          </a:p>
          <a:p>
            <a:pPr>
              <a:lnSpc>
                <a:spcPct val="170000"/>
              </a:lnSpc>
            </a:pPr>
            <a:r>
              <a:rPr lang="en-US" sz="4900" dirty="0" smtClean="0">
                <a:latin typeface="Times New Roman" pitchFamily="18" charset="0"/>
                <a:cs typeface="Times New Roman" pitchFamily="18" charset="0"/>
              </a:rPr>
              <a:t>BY: K.SRINIVASH(30123P08037)</a:t>
            </a:r>
            <a:endParaRPr lang="en-US" sz="4900" i="1" dirty="0" smtClean="0">
              <a:latin typeface="Times New Roman" pitchFamily="18" charset="0"/>
              <a:cs typeface="Times New Roman" pitchFamily="18" charset="0"/>
            </a:endParaRPr>
          </a:p>
          <a:p>
            <a:pPr>
              <a:lnSpc>
                <a:spcPct val="170000"/>
              </a:lnSpc>
            </a:pPr>
            <a:r>
              <a:rPr lang="en-US" sz="4900" dirty="0" smtClean="0">
                <a:latin typeface="Times New Roman" pitchFamily="18" charset="0"/>
                <a:cs typeface="Times New Roman" pitchFamily="18" charset="0"/>
              </a:rPr>
              <a:t>UNDER THE GUIDANCE OF</a:t>
            </a:r>
          </a:p>
          <a:p>
            <a:pPr>
              <a:lnSpc>
                <a:spcPct val="170000"/>
              </a:lnSpc>
            </a:pPr>
            <a:r>
              <a:rPr lang="en-US" sz="4900" b="1" dirty="0" smtClean="0">
                <a:latin typeface="Times New Roman" pitchFamily="18" charset="0"/>
                <a:cs typeface="Times New Roman" pitchFamily="18" charset="0"/>
              </a:rPr>
              <a:t>MRS.K.SANGEETHA , MCA., M.PHIL., B.ED.,</a:t>
            </a:r>
            <a:r>
              <a:rPr lang="en-US" sz="4900" dirty="0" smtClean="0">
                <a:latin typeface="Times New Roman" pitchFamily="18" charset="0"/>
                <a:cs typeface="Times New Roman" pitchFamily="18" charset="0"/>
              </a:rPr>
              <a:t> </a:t>
            </a:r>
            <a:r>
              <a:rPr lang="en-US" sz="4900" b="1" dirty="0" smtClean="0">
                <a:latin typeface="Times New Roman" pitchFamily="18" charset="0"/>
                <a:cs typeface="Times New Roman" pitchFamily="18" charset="0"/>
              </a:rPr>
              <a:t>ASSISTANT PROFESSOR</a:t>
            </a:r>
            <a:endParaRPr lang="en-US" sz="4900" dirty="0" smtClean="0">
              <a:latin typeface="Times New Roman" pitchFamily="18" charset="0"/>
              <a:cs typeface="Times New Roman" pitchFamily="18" charset="0"/>
            </a:endParaRPr>
          </a:p>
          <a:p>
            <a:endParaRPr sz="2900">
              <a:latin typeface="+mj-lt"/>
            </a:endParaRPr>
          </a:p>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420" y="512064"/>
            <a:ext cx="7772400" cy="914400"/>
          </a:xfrm>
        </p:spPr>
        <p:txBody>
          <a:bodyPr/>
          <a:lstStyle/>
          <a:p>
            <a:r>
              <a:rPr lang="en-US" sz="3600" dirty="0" smtClean="0">
                <a:latin typeface="Times New Roman" pitchFamily="18" charset="0"/>
                <a:cs typeface="Times New Roman" pitchFamily="18" charset="0"/>
              </a:rPr>
              <a:t> </a:t>
            </a:r>
            <a:r>
              <a:rPr lang="en-US" sz="3600" dirty="0" smtClean="0">
                <a:effectLst>
                  <a:reflection blurRad="6350" stA="55000" endA="300" endPos="45500" dir="5400000" sy="-100000" algn="bl" rotWithShape="0"/>
                </a:effectLst>
                <a:latin typeface="Times New Roman" pitchFamily="18" charset="0"/>
                <a:cs typeface="Times New Roman" pitchFamily="18" charset="0"/>
              </a:rPr>
              <a:t> ABSTRACT</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3" name="Content Placeholder 2"/>
          <p:cNvSpPr>
            <a:spLocks noGrp="1"/>
          </p:cNvSpPr>
          <p:nvPr>
            <p:ph idx="1"/>
          </p:nvPr>
        </p:nvSpPr>
        <p:spPr>
          <a:xfrm>
            <a:off x="495300" y="1242060"/>
            <a:ext cx="8167551" cy="5431536"/>
          </a:xfrm>
        </p:spPr>
        <p:txBody>
          <a:bodyPr vert="horz">
            <a:noAutofit/>
          </a:bodyPr>
          <a:lstStyle/>
          <a:p>
            <a:pPr algn="just">
              <a:buNone/>
            </a:pPr>
            <a:r>
              <a:rPr lang="en-US" sz="2000" b="1" dirty="0" smtClean="0">
                <a:latin typeface="Times New Roman" pitchFamily="18" charset="0"/>
                <a:cs typeface="Times New Roman" pitchFamily="18" charset="0"/>
              </a:rPr>
              <a:t>      The </a:t>
            </a:r>
            <a:r>
              <a:rPr lang="en-US" sz="2000" b="1" dirty="0" err="1" smtClean="0">
                <a:latin typeface="Times New Roman" pitchFamily="18" charset="0"/>
                <a:cs typeface="Times New Roman" pitchFamily="18" charset="0"/>
              </a:rPr>
              <a:t>IoT</a:t>
            </a:r>
            <a:r>
              <a:rPr lang="en-US" sz="2000" b="1" dirty="0" smtClean="0">
                <a:latin typeface="Times New Roman" pitchFamily="18" charset="0"/>
                <a:cs typeface="Times New Roman" pitchFamily="18" charset="0"/>
              </a:rPr>
              <a:t>-Based Home Security System is designed to enhance residential security using Smart sensors, real-time alerts, and remote monitoring. This system integrates PIR Motion sensors, door break sensors, an ESP32 microcontroller, a buzzer, and a web Based dashboard to detect intrusions and notify homeowners instantly . When motion or unauthorized entry is detected, the ESP32 processes the data and triggers an alarm while simultaneously sending an alert notification to the user via the web or mobile interface. The system ensures 24/7 surveillance, provides real-time access, and enhances security with remote monitoring and cloud data storage. This project aims to offer a cost effective , user friendly, and scalable solution for modern Home security. Future enhancements include AI-based threat detection, mobile app integration, cloud computing, and smart home automation to further improve reliability and efficiency.</a:t>
            </a:r>
            <a:endParaRPr lang="en-US" sz="2000" b="1"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reflection blurRad="6350" stA="55000" endA="300" endPos="45500" dir="5400000" sy="-100000" algn="bl" rotWithShape="0"/>
                </a:effectLst>
                <a:latin typeface="Times New Roman" pitchFamily="18" charset="0"/>
                <a:cs typeface="Times New Roman" pitchFamily="18" charset="0"/>
              </a:rPr>
              <a:t>EXISITING SYSTEM</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3" name="Content Placeholder 2"/>
          <p:cNvSpPr>
            <a:spLocks noGrp="1"/>
          </p:cNvSpPr>
          <p:nvPr>
            <p:ph idx="1"/>
          </p:nvPr>
        </p:nvSpPr>
        <p:spPr>
          <a:xfrm>
            <a:off x="914400" y="1426464"/>
            <a:ext cx="7772400" cy="4572000"/>
          </a:xfrm>
        </p:spPr>
        <p:txBody>
          <a:bodyPr/>
          <a:lstStyle/>
          <a:p>
            <a:pPr algn="just">
              <a:buNone/>
            </a:pPr>
            <a:r>
              <a:rPr>
                <a:latin typeface="Times New Roman" pitchFamily="18" charset="0"/>
                <a:cs typeface="Times New Roman" pitchFamily="18" charset="0"/>
              </a:rPr>
              <a:t>• Traditional home security systems lack real-time monitoring.</a:t>
            </a:r>
          </a:p>
          <a:p>
            <a:pPr algn="just">
              <a:buNone/>
            </a:pPr>
            <a:r>
              <a:rPr>
                <a:latin typeface="Times New Roman" pitchFamily="18" charset="0"/>
                <a:cs typeface="Times New Roman" pitchFamily="18" charset="0"/>
              </a:rPr>
              <a:t>• No remote access or automated alerts.</a:t>
            </a:r>
          </a:p>
          <a:p>
            <a:pPr algn="just">
              <a:buNone/>
            </a:pPr>
            <a:r>
              <a:rPr>
                <a:latin typeface="Times New Roman" pitchFamily="18" charset="0"/>
                <a:cs typeface="Times New Roman" pitchFamily="18" charset="0"/>
              </a:rPr>
              <a:t>• This IoT-based system enhances security with ESP32, sensors, and real-time alerts.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reflection blurRad="6350" stA="55000" endA="300" endPos="45500" dir="5400000" sy="-100000" algn="bl" rotWithShape="0"/>
                </a:effectLst>
                <a:latin typeface="Times New Roman" pitchFamily="18" charset="0"/>
                <a:cs typeface="Times New Roman" pitchFamily="18" charset="0"/>
              </a:rPr>
              <a:t>Proposed System</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3" name="Content Placeholder 2"/>
          <p:cNvSpPr>
            <a:spLocks noGrp="1"/>
          </p:cNvSpPr>
          <p:nvPr>
            <p:ph idx="1"/>
          </p:nvPr>
        </p:nvSpPr>
        <p:spPr>
          <a:xfrm>
            <a:off x="1117600" y="1524000"/>
            <a:ext cx="7424420" cy="4572000"/>
          </a:xfrm>
        </p:spPr>
        <p:txBody>
          <a:bodyPr>
            <a:normAutofit fontScale="70000" lnSpcReduction="20000"/>
          </a:bodyPr>
          <a:lstStyle/>
          <a:p>
            <a:pPr algn="just">
              <a:buNone/>
            </a:pPr>
            <a:r>
              <a:rPr lang="en-US" dirty="0" smtClean="0">
                <a:latin typeface="Times New Roman" pitchFamily="18" charset="0"/>
                <a:cs typeface="Times New Roman" pitchFamily="18" charset="0"/>
              </a:rPr>
              <a:t>     	    In </a:t>
            </a:r>
            <a:r>
              <a:rPr lang="en-US" dirty="0" smtClean="0">
                <a:latin typeface="Times New Roman" pitchFamily="18" charset="0"/>
                <a:cs typeface="Times New Roman" pitchFamily="18" charset="0"/>
              </a:rPr>
              <a:t>our project there are two sides as consumer </a:t>
            </a:r>
            <a:r>
              <a:rPr lang="en-US" dirty="0" smtClean="0">
                <a:latin typeface="Times New Roman" pitchFamily="18" charset="0"/>
                <a:cs typeface="Times New Roman" pitchFamily="18" charset="0"/>
              </a:rPr>
              <a:t>and producer</a:t>
            </a:r>
            <a:r>
              <a:rPr lang="en-US" dirty="0" smtClean="0">
                <a:latin typeface="Times New Roman" pitchFamily="18" charset="0"/>
                <a:cs typeface="Times New Roman" pitchFamily="18" charset="0"/>
              </a:rPr>
              <a:t>. Producer section is the part of the web application where the producer can manage the system and interact with the consumers. The producer is the administrator of the system who can perform various tasks such as</a:t>
            </a:r>
            <a:r>
              <a:rPr lang="en-US" dirty="0" smtClean="0">
                <a:latin typeface="Times New Roman" pitchFamily="18" charset="0"/>
                <a:cs typeface="Times New Roman" pitchFamily="18" charset="0"/>
              </a:rPr>
              <a:t>:</a:t>
            </a:r>
          </a:p>
          <a:p>
            <a:pPr algn="just">
              <a:buFont typeface="Wingdings" pitchFamily="2" charset="2"/>
              <a:buChar char="v"/>
            </a:pPr>
            <a:r>
              <a:rPr lang="en-US" dirty="0" smtClean="0">
                <a:latin typeface="Times New Roman" pitchFamily="18" charset="0"/>
                <a:cs typeface="Times New Roman" pitchFamily="18" charset="0"/>
              </a:rPr>
              <a:t>View</a:t>
            </a:r>
            <a:r>
              <a:rPr lang="en-US" dirty="0" smtClean="0">
                <a:latin typeface="Times New Roman" pitchFamily="18" charset="0"/>
                <a:cs typeface="Times New Roman" pitchFamily="18" charset="0"/>
              </a:rPr>
              <a:t>, edit and delete users and their information. </a:t>
            </a:r>
            <a:endParaRPr lang="en-US" dirty="0" smtClean="0">
              <a:latin typeface="Times New Roman" pitchFamily="18" charset="0"/>
              <a:cs typeface="Times New Roman" pitchFamily="18" charset="0"/>
            </a:endParaRPr>
          </a:p>
          <a:p>
            <a:pPr algn="just">
              <a:buFont typeface="Wingdings" pitchFamily="2" charset="2"/>
              <a:buChar char="v"/>
            </a:pPr>
            <a:r>
              <a:rPr lang="en-US" dirty="0" smtClean="0">
                <a:latin typeface="Times New Roman" pitchFamily="18" charset="0"/>
                <a:cs typeface="Times New Roman" pitchFamily="18" charset="0"/>
              </a:rPr>
              <a:t>View</a:t>
            </a:r>
            <a:r>
              <a:rPr lang="en-US" dirty="0" smtClean="0">
                <a:latin typeface="Times New Roman" pitchFamily="18" charset="0"/>
                <a:cs typeface="Times New Roman" pitchFamily="18" charset="0"/>
              </a:rPr>
              <a:t>, edit , delete , create rooms and their devices. </a:t>
            </a:r>
            <a:endParaRPr lang="en-US" dirty="0" smtClean="0">
              <a:latin typeface="Times New Roman" pitchFamily="18" charset="0"/>
              <a:cs typeface="Times New Roman" pitchFamily="18" charset="0"/>
            </a:endParaRPr>
          </a:p>
          <a:p>
            <a:pPr algn="just">
              <a:buFont typeface="Wingdings" pitchFamily="2" charset="2"/>
              <a:buChar char="v"/>
            </a:pPr>
            <a:r>
              <a:rPr lang="en-US" dirty="0" smtClean="0">
                <a:latin typeface="Times New Roman" pitchFamily="18" charset="0"/>
                <a:cs typeface="Times New Roman" pitchFamily="18" charset="0"/>
              </a:rPr>
              <a:t>View </a:t>
            </a:r>
            <a:r>
              <a:rPr lang="en-US" dirty="0" smtClean="0">
                <a:latin typeface="Times New Roman" pitchFamily="18" charset="0"/>
                <a:cs typeface="Times New Roman" pitchFamily="18" charset="0"/>
              </a:rPr>
              <a:t>the graphs of the consumer and act upon it according the how much consumer like to use this project. </a:t>
            </a:r>
            <a:endParaRPr lang="en-US" dirty="0" smtClean="0">
              <a:latin typeface="Times New Roman" pitchFamily="18" charset="0"/>
              <a:cs typeface="Times New Roman" pitchFamily="18" charset="0"/>
            </a:endParaRPr>
          </a:p>
          <a:p>
            <a:pPr algn="just">
              <a:buFont typeface="Wingdings" pitchFamily="2" charset="2"/>
              <a:buChar char="v"/>
            </a:pPr>
            <a:r>
              <a:rPr lang="en-US" dirty="0" smtClean="0">
                <a:latin typeface="Times New Roman" pitchFamily="18" charset="0"/>
                <a:cs typeface="Times New Roman" pitchFamily="18" charset="0"/>
              </a:rPr>
              <a:t>View </a:t>
            </a:r>
            <a:r>
              <a:rPr lang="en-US" dirty="0" smtClean="0">
                <a:latin typeface="Times New Roman" pitchFamily="18" charset="0"/>
                <a:cs typeface="Times New Roman" pitchFamily="18" charset="0"/>
              </a:rPr>
              <a:t>, edit , delete and create devices and can handle the settings of devices</a:t>
            </a:r>
            <a:r>
              <a:rPr lang="en-US" dirty="0" smtClean="0">
                <a:latin typeface="Times New Roman" pitchFamily="18" charset="0"/>
                <a:cs typeface="Times New Roman" pitchFamily="18" charset="0"/>
              </a:rPr>
              <a:t>.</a:t>
            </a:r>
          </a:p>
          <a:p>
            <a:pPr algn="just">
              <a:buFont typeface="Wingdings" pitchFamily="2" charset="2"/>
              <a:buChar char="v"/>
            </a:pPr>
            <a:r>
              <a:rPr lang="en-US" dirty="0" smtClean="0">
                <a:latin typeface="Times New Roman" pitchFamily="18" charset="0"/>
                <a:cs typeface="Times New Roman" pitchFamily="18" charset="0"/>
              </a:rPr>
              <a:t>View </a:t>
            </a:r>
            <a:r>
              <a:rPr lang="en-US" dirty="0" smtClean="0">
                <a:latin typeface="Times New Roman" pitchFamily="18" charset="0"/>
                <a:cs typeface="Times New Roman" pitchFamily="18" charset="0"/>
              </a:rPr>
              <a:t>consumer activities and logs</a:t>
            </a:r>
            <a:r>
              <a:rPr lang="en-US" dirty="0" smtClean="0">
                <a:latin typeface="Times New Roman" pitchFamily="18" charset="0"/>
                <a:cs typeface="Times New Roman" pitchFamily="18" charset="0"/>
              </a:rPr>
              <a:t>.</a:t>
            </a:r>
          </a:p>
          <a:p>
            <a:pPr algn="just">
              <a:buFont typeface="Wingdings" pitchFamily="2" charset="2"/>
              <a:buChar char="v"/>
            </a:pPr>
            <a:r>
              <a:rPr lang="en-US" dirty="0" smtClean="0">
                <a:latin typeface="Times New Roman" pitchFamily="18" charset="0"/>
                <a:cs typeface="Times New Roman" pitchFamily="18" charset="0"/>
              </a:rPr>
              <a:t>View </a:t>
            </a:r>
            <a:r>
              <a:rPr lang="en-US" dirty="0" smtClean="0">
                <a:latin typeface="Times New Roman" pitchFamily="18" charset="0"/>
                <a:cs typeface="Times New Roman" pitchFamily="18" charset="0"/>
              </a:rPr>
              <a:t>and respond to messages from consumers. </a:t>
            </a:r>
            <a:endParaRPr lang="en-US" dirty="0" smtClean="0">
              <a:latin typeface="Times New Roman" pitchFamily="18" charset="0"/>
              <a:cs typeface="Times New Roman" pitchFamily="18" charset="0"/>
            </a:endParaRPr>
          </a:p>
          <a:p>
            <a:pPr algn="just">
              <a:buFont typeface="Wingdings" pitchFamily="2" charset="2"/>
              <a:buChar char="v"/>
            </a:pPr>
            <a:r>
              <a:rPr lang="en-US" dirty="0" smtClean="0">
                <a:latin typeface="Times New Roman" pitchFamily="18" charset="0"/>
                <a:cs typeface="Times New Roman" pitchFamily="18" charset="0"/>
              </a:rPr>
              <a:t>Edit </a:t>
            </a:r>
            <a:r>
              <a:rPr lang="en-US" dirty="0" smtClean="0">
                <a:latin typeface="Times New Roman" pitchFamily="18" charset="0"/>
                <a:cs typeface="Times New Roman" pitchFamily="18" charset="0"/>
              </a:rPr>
              <a:t>their own profile and password</a:t>
            </a:r>
            <a:endParaRPr>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reflection blurRad="6350" stA="55000" endA="300" endPos="45500" dir="5400000" sy="-100000" algn="bl" rotWithShape="0"/>
                </a:effectLst>
                <a:latin typeface="Times New Roman" pitchFamily="18" charset="0"/>
                <a:cs typeface="Times New Roman" pitchFamily="18" charset="0"/>
              </a:rPr>
              <a:t>SYSTEM DESIGN</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Font typeface="Wingdings" pitchFamily="2" charset="2"/>
              <a:buChar char="v"/>
            </a:pPr>
            <a:r>
              <a:rPr smtClean="0">
                <a:latin typeface="Times New Roman" pitchFamily="18" charset="0"/>
                <a:cs typeface="Times New Roman" pitchFamily="18" charset="0"/>
              </a:rPr>
              <a:t> </a:t>
            </a:r>
            <a:r>
              <a:rPr>
                <a:latin typeface="Times New Roman" pitchFamily="18" charset="0"/>
                <a:cs typeface="Times New Roman" pitchFamily="18" charset="0"/>
              </a:rPr>
              <a:t>Sensor Module: PIR motion sensor, door break switch.</a:t>
            </a:r>
          </a:p>
          <a:p>
            <a:pPr>
              <a:buFont typeface="Wingdings" pitchFamily="2" charset="2"/>
              <a:buChar char="v"/>
            </a:pPr>
            <a:r>
              <a:rPr smtClean="0">
                <a:latin typeface="Times New Roman" pitchFamily="18" charset="0"/>
                <a:cs typeface="Times New Roman" pitchFamily="18" charset="0"/>
              </a:rPr>
              <a:t> </a:t>
            </a:r>
            <a:r>
              <a:rPr>
                <a:latin typeface="Times New Roman" pitchFamily="18" charset="0"/>
                <a:cs typeface="Times New Roman" pitchFamily="18" charset="0"/>
              </a:rPr>
              <a:t>Microcontroller: ESP32 processes data.</a:t>
            </a:r>
          </a:p>
          <a:p>
            <a:pPr>
              <a:buFont typeface="Wingdings" pitchFamily="2" charset="2"/>
              <a:buChar char="v"/>
            </a:pPr>
            <a:r>
              <a:rPr smtClean="0">
                <a:latin typeface="Times New Roman" pitchFamily="18" charset="0"/>
                <a:cs typeface="Times New Roman" pitchFamily="18" charset="0"/>
              </a:rPr>
              <a:t> </a:t>
            </a:r>
            <a:r>
              <a:rPr>
                <a:latin typeface="Times New Roman" pitchFamily="18" charset="0"/>
                <a:cs typeface="Times New Roman" pitchFamily="18" charset="0"/>
              </a:rPr>
              <a:t>Server: PHP &amp; MySQL store security data.</a:t>
            </a:r>
          </a:p>
          <a:p>
            <a:pPr>
              <a:buFont typeface="Wingdings" pitchFamily="2" charset="2"/>
              <a:buChar char="v"/>
            </a:pPr>
            <a:r>
              <a:rPr smtClean="0">
                <a:latin typeface="Times New Roman" pitchFamily="18" charset="0"/>
                <a:cs typeface="Times New Roman" pitchFamily="18" charset="0"/>
              </a:rPr>
              <a:t> </a:t>
            </a:r>
            <a:r>
              <a:rPr>
                <a:latin typeface="Times New Roman" pitchFamily="18" charset="0"/>
                <a:cs typeface="Times New Roman" pitchFamily="18" charset="0"/>
              </a:rPr>
              <a:t>User Interface: Web application for monitoring.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a:xfrm>
            <a:off x="914400" y="1783560"/>
            <a:ext cx="7772400" cy="4937280"/>
          </a:xfrm>
        </p:spPr>
        <p:txBody>
          <a:bodyPr>
            <a:normAutofit/>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pPr algn="ctr">
              <a:buNone/>
            </a:pPr>
            <a:r>
              <a:rPr lang="en-US" dirty="0" smtClean="0">
                <a:effectLst>
                  <a:reflection blurRad="6350" stA="55000" endA="300" endPos="45500" dir="5400000" sy="-100000" algn="bl" rotWithShape="0"/>
                </a:effectLst>
                <a:latin typeface="Times New Roman" pitchFamily="18" charset="0"/>
                <a:cs typeface="Times New Roman" pitchFamily="18" charset="0"/>
              </a:rPr>
              <a:t>System Architecture of  </a:t>
            </a:r>
            <a:r>
              <a:rPr lang="en-US" dirty="0" err="1" smtClean="0">
                <a:effectLst>
                  <a:reflection blurRad="6350" stA="55000" endA="300" endPos="45500" dir="5400000" sy="-100000" algn="bl" rotWithShape="0"/>
                </a:effectLst>
                <a:latin typeface="Times New Roman" pitchFamily="18" charset="0"/>
                <a:cs typeface="Times New Roman" pitchFamily="18" charset="0"/>
              </a:rPr>
              <a:t>Iot</a:t>
            </a:r>
            <a:r>
              <a:rPr lang="en-US" dirty="0" smtClean="0">
                <a:effectLst>
                  <a:reflection blurRad="6350" stA="55000" endA="300" endPos="45500" dir="5400000" sy="-100000" algn="bl" rotWithShape="0"/>
                </a:effectLst>
                <a:latin typeface="Times New Roman" pitchFamily="18" charset="0"/>
                <a:cs typeface="Times New Roman" pitchFamily="18" charset="0"/>
              </a:rPr>
              <a:t>-based Home</a:t>
            </a:r>
          </a:p>
          <a:p>
            <a:pPr algn="ctr">
              <a:buNone/>
            </a:pPr>
            <a:r>
              <a:rPr lang="en-US" dirty="0" smtClean="0">
                <a:effectLst>
                  <a:reflection blurRad="6350" stA="55000" endA="300" endPos="45500" dir="5400000" sy="-100000" algn="bl" rotWithShape="0"/>
                </a:effectLst>
                <a:latin typeface="Times New Roman" pitchFamily="18" charset="0"/>
                <a:cs typeface="Times New Roman" pitchFamily="18" charset="0"/>
              </a:rPr>
              <a:t>Security System</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pic>
        <p:nvPicPr>
          <p:cNvPr id="4" name="Picture 3" descr="G:\mainprojectdoc\systemarchitecture.png"/>
          <p:cNvPicPr/>
          <p:nvPr/>
        </p:nvPicPr>
        <p:blipFill>
          <a:blip r:embed="rId2"/>
          <a:srcRect/>
          <a:stretch>
            <a:fillRect/>
          </a:stretch>
        </p:blipFill>
        <p:spPr bwMode="auto">
          <a:xfrm>
            <a:off x="1447800" y="512064"/>
            <a:ext cx="6659880" cy="454152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reflection blurRad="6350" stA="55000" endA="300" endPos="45500" dir="5400000" sy="-100000" algn="bl" rotWithShape="0"/>
                </a:effectLst>
                <a:latin typeface="Times New Roman" pitchFamily="18" charset="0"/>
                <a:cs typeface="Times New Roman" pitchFamily="18" charset="0"/>
              </a:rPr>
              <a:t>HARDWARE &amp; SOFTWARE REQUIREMENTS</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Font typeface="Wingdings" pitchFamily="2" charset="2"/>
              <a:buChar char="v"/>
            </a:pPr>
            <a:r>
              <a:rPr smtClean="0">
                <a:latin typeface="Times New Roman" pitchFamily="18" charset="0"/>
                <a:cs typeface="Times New Roman" pitchFamily="18" charset="0"/>
              </a:rPr>
              <a:t>Hardware</a:t>
            </a:r>
            <a:r>
              <a:rPr>
                <a:latin typeface="Times New Roman" pitchFamily="18" charset="0"/>
                <a:cs typeface="Times New Roman" pitchFamily="18" charset="0"/>
              </a:rPr>
              <a:t>: ESP32, PIR sensor, Door Break Switch, Buzzer, Latch.</a:t>
            </a:r>
          </a:p>
          <a:p>
            <a:pPr>
              <a:buFont typeface="Wingdings" pitchFamily="2" charset="2"/>
              <a:buChar char="v"/>
            </a:pPr>
            <a:r>
              <a:rPr smtClean="0">
                <a:latin typeface="Times New Roman" pitchFamily="18" charset="0"/>
                <a:cs typeface="Times New Roman" pitchFamily="18" charset="0"/>
              </a:rPr>
              <a:t>Software</a:t>
            </a:r>
            <a:r>
              <a:rPr>
                <a:latin typeface="Times New Roman" pitchFamily="18" charset="0"/>
                <a:cs typeface="Times New Roman" pitchFamily="18" charset="0"/>
              </a:rPr>
              <a:t>: Windows/Linux, PHP, MySQL, HTML, JavaScript.</a:t>
            </a:r>
          </a:p>
          <a:p>
            <a:pPr>
              <a:buFont typeface="Wingdings" pitchFamily="2" charset="2"/>
              <a:buChar char="v"/>
            </a:pPr>
            <a:r>
              <a:rPr smtClean="0">
                <a:latin typeface="Times New Roman" pitchFamily="18" charset="0"/>
                <a:cs typeface="Times New Roman" pitchFamily="18" charset="0"/>
              </a:rPr>
              <a:t>Server</a:t>
            </a:r>
            <a:r>
              <a:rPr>
                <a:latin typeface="Times New Roman" pitchFamily="18" charset="0"/>
                <a:cs typeface="Times New Roman" pitchFamily="18" charset="0"/>
              </a:rPr>
              <a:t>: XAMPP for web hosting.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WORKFLOW &amp; DATA FLOW</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Font typeface="Wingdings" pitchFamily="2" charset="2"/>
              <a:buChar char="v"/>
            </a:pPr>
            <a:r>
              <a:rPr smtClean="0">
                <a:latin typeface="Times New Roman" pitchFamily="18" charset="0"/>
                <a:cs typeface="Times New Roman" pitchFamily="18" charset="0"/>
              </a:rPr>
              <a:t> </a:t>
            </a:r>
            <a:r>
              <a:rPr>
                <a:latin typeface="Times New Roman" pitchFamily="18" charset="0"/>
                <a:cs typeface="Times New Roman" pitchFamily="18" charset="0"/>
              </a:rPr>
              <a:t>Sensors detect movement/entry.</a:t>
            </a:r>
          </a:p>
          <a:p>
            <a:pPr>
              <a:buFont typeface="Wingdings" pitchFamily="2" charset="2"/>
              <a:buChar char="v"/>
            </a:pPr>
            <a:r>
              <a:rPr smtClean="0">
                <a:latin typeface="Times New Roman" pitchFamily="18" charset="0"/>
                <a:cs typeface="Times New Roman" pitchFamily="18" charset="0"/>
              </a:rPr>
              <a:t> </a:t>
            </a:r>
            <a:r>
              <a:rPr>
                <a:latin typeface="Times New Roman" pitchFamily="18" charset="0"/>
                <a:cs typeface="Times New Roman" pitchFamily="18" charset="0"/>
              </a:rPr>
              <a:t>ESP32 processes data and sends to server.</a:t>
            </a:r>
          </a:p>
          <a:p>
            <a:pPr>
              <a:buFont typeface="Wingdings" pitchFamily="2" charset="2"/>
              <a:buChar char="v"/>
            </a:pPr>
            <a:r>
              <a:rPr smtClean="0">
                <a:latin typeface="Times New Roman" pitchFamily="18" charset="0"/>
                <a:cs typeface="Times New Roman" pitchFamily="18" charset="0"/>
              </a:rPr>
              <a:t> </a:t>
            </a:r>
            <a:r>
              <a:rPr>
                <a:latin typeface="Times New Roman" pitchFamily="18" charset="0"/>
                <a:cs typeface="Times New Roman" pitchFamily="18" charset="0"/>
              </a:rPr>
              <a:t>Server logs events, generates alerts.</a:t>
            </a:r>
          </a:p>
          <a:p>
            <a:pPr>
              <a:buFont typeface="Wingdings" pitchFamily="2" charset="2"/>
              <a:buChar char="v"/>
            </a:pPr>
            <a:r>
              <a:rPr smtClean="0">
                <a:latin typeface="Times New Roman" pitchFamily="18" charset="0"/>
                <a:cs typeface="Times New Roman" pitchFamily="18" charset="0"/>
              </a:rPr>
              <a:t> </a:t>
            </a:r>
            <a:r>
              <a:rPr>
                <a:latin typeface="Times New Roman" pitchFamily="18" charset="0"/>
                <a:cs typeface="Times New Roman" pitchFamily="18" charset="0"/>
              </a:rPr>
              <a:t>User receives real-time notifications.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5" name="Content Placeholder 4"/>
          <p:cNvSpPr>
            <a:spLocks noGrp="1"/>
          </p:cNvSpPr>
          <p:nvPr>
            <p:ph idx="1"/>
          </p:nvPr>
        </p:nvSpPr>
        <p:spPr>
          <a:xfrm>
            <a:off x="782320" y="0"/>
            <a:ext cx="7904480" cy="6355560"/>
          </a:xfrm>
        </p:spPr>
        <p:txBody>
          <a:bodyPr>
            <a:normAutofit/>
          </a:bodyPr>
          <a:lstStyle/>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lgn="ctr">
              <a:buNone/>
            </a:pPr>
            <a:r>
              <a:rPr lang="en-US" dirty="0" smtClean="0">
                <a:effectLst>
                  <a:reflection blurRad="6350" stA="55000" endA="300" endPos="45500" dir="5400000" sy="-100000" algn="bl" rotWithShape="0"/>
                </a:effectLst>
                <a:latin typeface="Times New Roman" pitchFamily="18" charset="0"/>
                <a:cs typeface="Times New Roman" pitchFamily="18" charset="0"/>
              </a:rPr>
              <a:t>WORK FLOW </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pic>
        <p:nvPicPr>
          <p:cNvPr id="7" name="Content Placeholder 3" descr="G:\mainprojectdoc\dataflowdiagram.png"/>
          <p:cNvPicPr>
            <a:picLocks/>
          </p:cNvPicPr>
          <p:nvPr/>
        </p:nvPicPr>
        <p:blipFill>
          <a:blip r:embed="rId2"/>
          <a:srcRect/>
          <a:stretch>
            <a:fillRect/>
          </a:stretch>
        </p:blipFill>
        <p:spPr bwMode="auto">
          <a:xfrm>
            <a:off x="782320" y="217424"/>
            <a:ext cx="7772400" cy="50800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reflection blurRad="6350" stA="55000" endA="300" endPos="45500" dir="5400000" sy="-100000" algn="bl" rotWithShape="0"/>
                </a:effectLst>
                <a:latin typeface="Times New Roman" pitchFamily="18" charset="0"/>
                <a:cs typeface="Times New Roman" pitchFamily="18" charset="0"/>
              </a:rPr>
              <a:t>USER INTERFACE DESIGN</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pic>
        <p:nvPicPr>
          <p:cNvPr id="4" name="Content Placeholder 3" descr="WhatsApp Image 2025-03-29 at 8.22.47 AM.jpeg"/>
          <p:cNvPicPr>
            <a:picLocks noGrp="1" noChangeAspect="1"/>
          </p:cNvPicPr>
          <p:nvPr>
            <p:ph idx="1"/>
          </p:nvPr>
        </p:nvPicPr>
        <p:blipFill>
          <a:blip r:embed="rId2"/>
          <a:stretch>
            <a:fillRect/>
          </a:stretch>
        </p:blipFill>
        <p:spPr>
          <a:xfrm>
            <a:off x="1259840" y="1738006"/>
            <a:ext cx="6939280" cy="3910696"/>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effectLst>
                  <a:reflection blurRad="6350" stA="55000" endA="300" endPos="45500" dir="5400000" sy="-100000" algn="bl" rotWithShape="0"/>
                </a:effectLst>
                <a:latin typeface="Times New Roman" pitchFamily="18" charset="0"/>
                <a:cs typeface="Times New Roman" pitchFamily="18" charset="0"/>
              </a:rPr>
              <a:t>LOGS &amp; STATUS</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pic>
        <p:nvPicPr>
          <p:cNvPr id="4" name="Content Placeholder 3" descr="WhatsApp Image 2025-03-29 at 8.22.46 AM.jpeg"/>
          <p:cNvPicPr>
            <a:picLocks noGrp="1" noChangeAspect="1"/>
          </p:cNvPicPr>
          <p:nvPr>
            <p:ph idx="1"/>
          </p:nvPr>
        </p:nvPicPr>
        <p:blipFill>
          <a:blip r:embed="rId2"/>
          <a:stretch>
            <a:fillRect/>
          </a:stretch>
        </p:blipFill>
        <p:spPr>
          <a:xfrm>
            <a:off x="914400" y="1973558"/>
            <a:ext cx="7772400" cy="4193583"/>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reflection blurRad="6350" stA="55000" endA="300" endPos="45500" dir="5400000" sy="-100000" algn="bl" rotWithShape="0"/>
                </a:effectLst>
                <a:latin typeface="Times New Roman" pitchFamily="18" charset="0"/>
                <a:cs typeface="Times New Roman" pitchFamily="18" charset="0"/>
              </a:rPr>
              <a:t>IMPLEMENTATION &amp; TESTING</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3" name="Content Placeholder 2"/>
          <p:cNvSpPr>
            <a:spLocks noGrp="1"/>
          </p:cNvSpPr>
          <p:nvPr>
            <p:ph idx="1"/>
          </p:nvPr>
        </p:nvSpPr>
        <p:spPr>
          <a:xfrm>
            <a:off x="914400" y="1426464"/>
            <a:ext cx="7772400" cy="4572000"/>
          </a:xfrm>
        </p:spPr>
        <p:txBody>
          <a:bodyPr/>
          <a:lstStyle/>
          <a:p>
            <a:pPr>
              <a:buFont typeface="Wingdings" pitchFamily="2" charset="2"/>
              <a:buChar char="v"/>
            </a:pPr>
            <a:r>
              <a:rPr smtClean="0">
                <a:latin typeface="Times New Roman" pitchFamily="18" charset="0"/>
                <a:cs typeface="Times New Roman" pitchFamily="18" charset="0"/>
              </a:rPr>
              <a:t>Coding</a:t>
            </a:r>
            <a:r>
              <a:rPr>
                <a:latin typeface="Times New Roman" pitchFamily="18" charset="0"/>
                <a:cs typeface="Times New Roman" pitchFamily="18" charset="0"/>
              </a:rPr>
              <a:t>: PHP, MySQL, JavaScript.</a:t>
            </a:r>
          </a:p>
          <a:p>
            <a:pPr>
              <a:buFont typeface="Wingdings" pitchFamily="2" charset="2"/>
              <a:buChar char="v"/>
            </a:pPr>
            <a:r>
              <a:rPr smtClean="0">
                <a:latin typeface="Times New Roman" pitchFamily="18" charset="0"/>
                <a:cs typeface="Times New Roman" pitchFamily="18" charset="0"/>
              </a:rPr>
              <a:t> </a:t>
            </a:r>
            <a:r>
              <a:rPr>
                <a:latin typeface="Times New Roman" pitchFamily="18" charset="0"/>
                <a:cs typeface="Times New Roman" pitchFamily="18" charset="0"/>
              </a:rPr>
              <a:t>Testing: Unit, Integration, System, Security Testing.</a:t>
            </a:r>
          </a:p>
          <a:p>
            <a:pPr>
              <a:buFont typeface="Wingdings" pitchFamily="2" charset="2"/>
              <a:buChar char="v"/>
            </a:pPr>
            <a:r>
              <a:rPr smtClean="0">
                <a:latin typeface="Times New Roman" pitchFamily="18" charset="0"/>
                <a:cs typeface="Times New Roman" pitchFamily="18" charset="0"/>
              </a:rPr>
              <a:t>Performance</a:t>
            </a:r>
            <a:r>
              <a:rPr>
                <a:latin typeface="Times New Roman" pitchFamily="18" charset="0"/>
                <a:cs typeface="Times New Roman" pitchFamily="18" charset="0"/>
              </a:rPr>
              <a:t>: Response time, scalability, data handling.</a:t>
            </a:r>
          </a:p>
          <a:p>
            <a:pPr>
              <a:buFont typeface="Wingdings" pitchFamily="2" charset="2"/>
              <a:buChar char="v"/>
            </a:pPr>
            <a:r>
              <a:rPr smtClean="0">
                <a:latin typeface="Times New Roman" pitchFamily="18" charset="0"/>
                <a:cs typeface="Times New Roman" pitchFamily="18" charset="0"/>
              </a:rPr>
              <a:t>Security: </a:t>
            </a:r>
            <a:r>
              <a:rPr lang="en-US" dirty="0" smtClean="0">
                <a:latin typeface="Times New Roman" pitchFamily="18" charset="0"/>
                <a:cs typeface="Times New Roman" pitchFamily="18" charset="0"/>
              </a:rPr>
              <a:t>A</a:t>
            </a:r>
            <a:r>
              <a:rPr smtClean="0">
                <a:latin typeface="Times New Roman" pitchFamily="18" charset="0"/>
                <a:cs typeface="Times New Roman" pitchFamily="18" charset="0"/>
              </a:rPr>
              <a:t>ccess </a:t>
            </a:r>
            <a:r>
              <a:rPr>
                <a:latin typeface="Times New Roman" pitchFamily="18" charset="0"/>
                <a:cs typeface="Times New Roman" pitchFamily="18" charset="0"/>
              </a:rPr>
              <a:t>control, logging.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effectLst>
                  <a:reflection blurRad="6350" stA="55000" endA="300" endPos="45500" dir="5400000" sy="-100000" algn="bl" rotWithShape="0"/>
                </a:effectLst>
                <a:latin typeface="Times New Roman" pitchFamily="18" charset="0"/>
                <a:cs typeface="Times New Roman" pitchFamily="18" charset="0"/>
              </a:rPr>
              <a:t>Risks &amp; Solutions</a:t>
            </a:r>
          </a:p>
        </p:txBody>
      </p:sp>
      <p:sp>
        <p:nvSpPr>
          <p:cNvPr id="3" name="Content Placeholder 2"/>
          <p:cNvSpPr>
            <a:spLocks noGrp="1"/>
          </p:cNvSpPr>
          <p:nvPr>
            <p:ph idx="1"/>
          </p:nvPr>
        </p:nvSpPr>
        <p:spPr>
          <a:xfrm>
            <a:off x="914400" y="1426464"/>
            <a:ext cx="7772400" cy="4572000"/>
          </a:xfrm>
        </p:spPr>
        <p:txBody>
          <a:bodyPr/>
          <a:lstStyle/>
          <a:p>
            <a:pPr>
              <a:buFont typeface="Wingdings" pitchFamily="2" charset="2"/>
              <a:buChar char="v"/>
            </a:pPr>
            <a:r>
              <a:rPr smtClean="0">
                <a:latin typeface="Times New Roman" pitchFamily="18" charset="0"/>
                <a:cs typeface="Times New Roman" pitchFamily="18" charset="0"/>
              </a:rPr>
              <a:t>Sensor </a:t>
            </a:r>
            <a:r>
              <a:rPr>
                <a:latin typeface="Times New Roman" pitchFamily="18" charset="0"/>
                <a:cs typeface="Times New Roman" pitchFamily="18" charset="0"/>
              </a:rPr>
              <a:t>Failure → Backup sensors, maintenance.</a:t>
            </a:r>
          </a:p>
          <a:p>
            <a:pPr>
              <a:buFont typeface="Wingdings" pitchFamily="2" charset="2"/>
              <a:buChar char="v"/>
            </a:pPr>
            <a:r>
              <a:rPr smtClean="0">
                <a:latin typeface="Times New Roman" pitchFamily="18" charset="0"/>
                <a:cs typeface="Times New Roman" pitchFamily="18" charset="0"/>
              </a:rPr>
              <a:t>Power </a:t>
            </a:r>
            <a:r>
              <a:rPr>
                <a:latin typeface="Times New Roman" pitchFamily="18" charset="0"/>
                <a:cs typeface="Times New Roman" pitchFamily="18" charset="0"/>
              </a:rPr>
              <a:t>Failure → Battery backups, UPS.</a:t>
            </a:r>
          </a:p>
          <a:p>
            <a:pPr>
              <a:buFont typeface="Wingdings" pitchFamily="2" charset="2"/>
              <a:buChar char="v"/>
            </a:pPr>
            <a:r>
              <a:rPr smtClean="0">
                <a:latin typeface="Times New Roman" pitchFamily="18" charset="0"/>
                <a:cs typeface="Times New Roman" pitchFamily="18" charset="0"/>
              </a:rPr>
              <a:t>Network </a:t>
            </a:r>
            <a:r>
              <a:rPr>
                <a:latin typeface="Times New Roman" pitchFamily="18" charset="0"/>
                <a:cs typeface="Times New Roman" pitchFamily="18" charset="0"/>
              </a:rPr>
              <a:t>Issue → Offline mode, auto-reconnect.</a:t>
            </a:r>
          </a:p>
          <a:p>
            <a:pPr>
              <a:buFont typeface="Wingdings" pitchFamily="2" charset="2"/>
              <a:buChar char="v"/>
            </a:pPr>
            <a:r>
              <a:rPr smtClean="0">
                <a:latin typeface="Times New Roman" pitchFamily="18" charset="0"/>
                <a:cs typeface="Times New Roman" pitchFamily="18" charset="0"/>
              </a:rPr>
              <a:t>Data </a:t>
            </a:r>
            <a:r>
              <a:rPr>
                <a:latin typeface="Times New Roman" pitchFamily="18" charset="0"/>
                <a:cs typeface="Times New Roman" pitchFamily="18" charset="0"/>
              </a:rPr>
              <a:t>Loss → Cloud backups, redundancy.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reflection blurRad="6350" stA="55000" endA="300" endPos="45500" dir="5400000" sy="-100000" algn="bl" rotWithShape="0"/>
                </a:effectLst>
                <a:latin typeface="Times New Roman" pitchFamily="18" charset="0"/>
                <a:cs typeface="Times New Roman" pitchFamily="18" charset="0"/>
              </a:rPr>
              <a:t>CONCLUSION &amp; FUTURE ENHANCEMENTS</a:t>
            </a:r>
            <a:endParaRPr lang="en-US" dirty="0">
              <a:effectLst>
                <a:reflection blurRad="6350" stA="55000" endA="300" endPos="45500" dir="5400000" sy="-100000" algn="bl" rotWithShape="0"/>
              </a:effectLst>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Font typeface="Wingdings" pitchFamily="2" charset="2"/>
              <a:buChar char="v"/>
            </a:pPr>
            <a:r>
              <a:rPr smtClean="0">
                <a:latin typeface="Times New Roman" pitchFamily="18" charset="0"/>
                <a:cs typeface="Times New Roman" pitchFamily="18" charset="0"/>
              </a:rPr>
              <a:t> </a:t>
            </a:r>
            <a:r>
              <a:rPr>
                <a:latin typeface="Times New Roman" pitchFamily="18" charset="0"/>
                <a:cs typeface="Times New Roman" pitchFamily="18" charset="0"/>
              </a:rPr>
              <a:t>Provides real-time security monitoring.</a:t>
            </a:r>
          </a:p>
          <a:p>
            <a:pPr algn="just">
              <a:buFont typeface="Wingdings" pitchFamily="2" charset="2"/>
              <a:buChar char="v"/>
            </a:pPr>
            <a:r>
              <a:rPr smtClean="0">
                <a:latin typeface="Times New Roman" pitchFamily="18" charset="0"/>
                <a:cs typeface="Times New Roman" pitchFamily="18" charset="0"/>
              </a:rPr>
              <a:t> </a:t>
            </a:r>
            <a:r>
              <a:rPr>
                <a:latin typeface="Times New Roman" pitchFamily="18" charset="0"/>
                <a:cs typeface="Times New Roman" pitchFamily="18" charset="0"/>
              </a:rPr>
              <a:t>Enhancements: AI-based detection, voice control.</a:t>
            </a:r>
          </a:p>
          <a:p>
            <a:pPr algn="just">
              <a:buFont typeface="Wingdings" pitchFamily="2" charset="2"/>
              <a:buChar char="v"/>
            </a:pPr>
            <a:r>
              <a:rPr lang="en-US" dirty="0" smtClean="0">
                <a:latin typeface="Times New Roman" pitchFamily="18" charset="0"/>
                <a:cs typeface="Times New Roman" pitchFamily="18" charset="0"/>
              </a:rPr>
              <a:t> Future upgrades include AI-based detection, mobile app integration, and smart home automation for improved reliability.</a:t>
            </a:r>
            <a:endParaRPr>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IN" dirty="0" smtClean="0"/>
              <a:t> </a:t>
            </a:r>
            <a:endParaRPr lang="en-US" dirty="0"/>
          </a:p>
        </p:txBody>
      </p:sp>
      <p:sp>
        <p:nvSpPr>
          <p:cNvPr id="3" name="Title 2"/>
          <p:cNvSpPr>
            <a:spLocks noGrp="1"/>
          </p:cNvSpPr>
          <p:nvPr>
            <p:ph type="title"/>
          </p:nvPr>
        </p:nvSpPr>
        <p:spPr/>
        <p:txBody>
          <a:bodyPr/>
          <a:lstStyle/>
          <a:p>
            <a:pPr algn="ctr"/>
            <a:r>
              <a:rPr 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rPr>
              <a:t/>
            </a:r>
            <a:br>
              <a:rPr 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rPr>
            </a:br>
            <a:r>
              <a:rPr 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rPr>
              <a:t/>
            </a:r>
            <a:br>
              <a:rPr 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rPr>
            </a:br>
            <a:r>
              <a:rPr 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rPr>
              <a:t/>
            </a:r>
            <a:br>
              <a:rPr 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rPr>
            </a:br>
            <a:r>
              <a:rPr lang="en-US" sz="4000" b="1" dirty="0" smtClean="0">
                <a:ln w="18415" cmpd="sng">
                  <a:solidFill>
                    <a:srgbClr val="FFFFFF"/>
                  </a:solidFill>
                  <a:prstDash val="solid"/>
                </a:ln>
                <a:solidFill>
                  <a:srgbClr val="FFFFFF"/>
                </a:solidFill>
                <a:effectLst>
                  <a:outerShdw blurRad="38100" dist="38100" dir="2700000" algn="tl">
                    <a:srgbClr val="000000">
                      <a:alpha val="43137"/>
                    </a:srgbClr>
                  </a:outerShdw>
                  <a:reflection blurRad="6350" stA="55000" endA="50" endPos="85000" dir="5400000" sy="-100000" algn="bl" rotWithShape="0"/>
                </a:effectLst>
                <a:latin typeface="Times New Roman" pitchFamily="18" charset="0"/>
                <a:cs typeface="Times New Roman" pitchFamily="18" charset="0"/>
              </a:rPr>
              <a:t>DO YOU HAVE ANY QUESTIONS</a:t>
            </a:r>
            <a:r>
              <a:rPr 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rPr>
              <a:t>?</a:t>
            </a:r>
            <a:br>
              <a:rPr lang="en-US" sz="4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rPr>
            </a:b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132</TotalTime>
  <Words>461</Words>
  <Application>Microsoft Macintosh PowerPoint</Application>
  <PresentationFormat>On-screen Show (4:3)</PresentationFormat>
  <Paragraphs>76</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Metro</vt:lpstr>
      <vt:lpstr>Home Security System with Server Monitoring and Automation Control</vt:lpstr>
      <vt:lpstr>  ABSTRACT</vt:lpstr>
      <vt:lpstr>EXISITING SYSTEM</vt:lpstr>
      <vt:lpstr>Proposed System</vt:lpstr>
      <vt:lpstr>SYSTEM DESIGN</vt:lpstr>
      <vt:lpstr> </vt:lpstr>
      <vt:lpstr>HARDWARE &amp; SOFTWARE REQUIREMENTS</vt:lpstr>
      <vt:lpstr>WORKFLOW &amp; DATA FLOW</vt:lpstr>
      <vt:lpstr> </vt:lpstr>
      <vt:lpstr>USER INTERFACE DESIGN</vt:lpstr>
      <vt:lpstr>LOGS &amp; STATUS</vt:lpstr>
      <vt:lpstr>IMPLEMENTATION &amp; TESTING</vt:lpstr>
      <vt:lpstr>Risks &amp; Solutions</vt:lpstr>
      <vt:lpstr>CONCLUSION &amp; FUTURE ENHANCEMENTS</vt:lpstr>
      <vt:lpstr>   DO YOU HAVE ANY QUESTIONS? </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IoT-Based Home Security System</dc:title>
  <dc:creator>lok 8</dc:creator>
  <dc:description>generated using python-pptx</dc:description>
  <cp:lastModifiedBy>DELL</cp:lastModifiedBy>
  <cp:revision>19</cp:revision>
  <dcterms:created xsi:type="dcterms:W3CDTF">2013-01-27T09:14:16Z</dcterms:created>
  <dcterms:modified xsi:type="dcterms:W3CDTF">2025-04-10T04:20:20Z</dcterms:modified>
</cp:coreProperties>
</file>