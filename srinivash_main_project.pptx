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66" r:id="rId3"/>
    <p:sldId id="257" r:id="rId4"/>
    <p:sldId id="258" r:id="rId5"/>
    <p:sldId id="259" r:id="rId6"/>
    <p:sldId id="260" r:id="rId7"/>
    <p:sldId id="261" r:id="rId8"/>
    <p:sldId id="268" r:id="rId9"/>
    <p:sldId id="262" r:id="rId10"/>
    <p:sldId id="269" r:id="rId11"/>
    <p:sldId id="263" r:id="rId12"/>
    <p:sldId id="272" r:id="rId13"/>
    <p:sldId id="273" r:id="rId14"/>
    <p:sldId id="264" r:id="rId15"/>
    <p:sldId id="265" r:id="rId16"/>
    <p:sldId id="27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890" autoAdjust="0"/>
    <p:restoredTop sz="94660"/>
  </p:normalViewPr>
  <p:slideViewPr>
    <p:cSldViewPr snapToGrid="0" snapToObjects="1">
      <p:cViewPr varScale="1">
        <p:scale>
          <a:sx n="82" d="100"/>
          <a:sy n="82" d="100"/>
        </p:scale>
        <p:origin x="-1507" y="-91"/>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5BCAD085-E8A6-8845-BD4E-CB4CCA059FC4}" type="datetimeFigureOut">
              <a:rPr lang="en-US" smtClean="0"/>
              <a:pPr/>
              <a:t>4/10/2025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1FF6DA9-008F-8B48-92A6-B652298478BF}"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5BCAD085-E8A6-8845-BD4E-CB4CCA059FC4}" type="datetimeFigureOut">
              <a:rPr lang="en-US" smtClean="0"/>
              <a:pPr/>
              <a:t>4/10/2025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C1FF6DA9-008F-8B48-92A6-B652298478BF}"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5BCAD085-E8A6-8845-BD4E-CB4CCA059FC4}" type="datetimeFigureOut">
              <a:rPr lang="en-US" smtClean="0"/>
              <a:pPr/>
              <a:t>4/10/2025</a:t>
            </a:fld>
            <a:endParaRPr lang="en-US"/>
          </a:p>
        </p:txBody>
      </p:sp>
      <p:sp>
        <p:nvSpPr>
          <p:cNvPr id="10" name="Slide Number Placeholder 9"/>
          <p:cNvSpPr>
            <a:spLocks noGrp="1"/>
          </p:cNvSpPr>
          <p:nvPr>
            <p:ph type="sldNum" sz="quarter" idx="16"/>
          </p:nvPr>
        </p:nvSpPr>
        <p:spPr/>
        <p:txBody>
          <a:bodyPr rtlCol="0"/>
          <a:lstStyle/>
          <a:p>
            <a:fld id="{C1FF6DA9-008F-8B48-92A6-B652298478BF}"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5BCAD085-E8A6-8845-BD4E-CB4CCA059FC4}" type="datetimeFigureOut">
              <a:rPr lang="en-US" smtClean="0"/>
              <a:pPr/>
              <a:t>4/10/2025</a:t>
            </a:fld>
            <a:endParaRPr lang="en-US"/>
          </a:p>
        </p:txBody>
      </p:sp>
      <p:sp>
        <p:nvSpPr>
          <p:cNvPr id="12" name="Slide Number Placeholder 11"/>
          <p:cNvSpPr>
            <a:spLocks noGrp="1"/>
          </p:cNvSpPr>
          <p:nvPr>
            <p:ph type="sldNum" sz="quarter" idx="16"/>
          </p:nvPr>
        </p:nvSpPr>
        <p:spPr/>
        <p:txBody>
          <a:bodyPr rtlCol="0"/>
          <a:lstStyle/>
          <a:p>
            <a:fld id="{C1FF6DA9-008F-8B48-92A6-B652298478BF}"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pPr/>
              <a:t>4/10/2025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4/10/2025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C1FF6DA9-008F-8B48-92A6-B652298478BF}"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5BCAD085-E8A6-8845-BD4E-CB4CCA059FC4}" type="datetimeFigureOut">
              <a:rPr lang="en-US" smtClean="0"/>
              <a:pPr/>
              <a:t>4/10/2025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C1FF6DA9-008F-8B48-92A6-B652298478BF}"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5BCAD085-E8A6-8845-BD4E-CB4CCA059FC4}" type="datetimeFigureOut">
              <a:rPr lang="en-US" smtClean="0"/>
              <a:pPr/>
              <a:t>4/10/2025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C1FF6DA9-008F-8B48-92A6-B652298478B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5BCAD085-E8A6-8845-BD4E-CB4CCA059FC4}" type="datetimeFigureOut">
              <a:rPr lang="en-US" smtClean="0"/>
              <a:pPr/>
              <a:t>4/10/2025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C1FF6DA9-008F-8B48-92A6-B652298478B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8416" y="971877"/>
            <a:ext cx="7772400" cy="1975104"/>
          </a:xfrm>
        </p:spPr>
        <p:txBody>
          <a:bodyPr>
            <a:normAutofit fontScale="90000"/>
          </a:bodyPr>
          <a:lstStyle/>
          <a:p>
            <a:pPr algn="ctr"/>
            <a:r>
              <a:rPr lang="en-US" dirty="0" smtClean="0">
                <a:latin typeface="Times New Roman" pitchFamily="18" charset="0"/>
                <a:cs typeface="Times New Roman" pitchFamily="18" charset="0"/>
              </a:rPr>
              <a:t>Home Security System with Server Monitoring and Automation Control</a:t>
            </a:r>
            <a:endParaRPr>
              <a:latin typeface="Times New Roman" pitchFamily="18" charset="0"/>
              <a:cs typeface="Times New Roman" pitchFamily="18" charset="0"/>
            </a:endParaRPr>
          </a:p>
        </p:txBody>
      </p:sp>
      <p:sp>
        <p:nvSpPr>
          <p:cNvPr id="3" name="Subtitle 2"/>
          <p:cNvSpPr>
            <a:spLocks noGrp="1"/>
          </p:cNvSpPr>
          <p:nvPr>
            <p:ph type="subTitle" idx="1"/>
          </p:nvPr>
        </p:nvSpPr>
        <p:spPr>
          <a:xfrm>
            <a:off x="363893" y="4161453"/>
            <a:ext cx="7772400" cy="1651517"/>
          </a:xfrm>
        </p:spPr>
        <p:txBody>
          <a:bodyPr>
            <a:normAutofit fontScale="25000" lnSpcReduction="20000"/>
          </a:bodyPr>
          <a:lstStyle/>
          <a:p>
            <a:endParaRPr lang="en-US" i="1" dirty="0" smtClean="0"/>
          </a:p>
          <a:p>
            <a:endParaRPr lang="en-US" i="1" dirty="0" smtClean="0"/>
          </a:p>
          <a:p>
            <a:endParaRPr lang="en-US" i="1" dirty="0" smtClean="0"/>
          </a:p>
          <a:p>
            <a:endParaRPr lang="en-US" i="1" dirty="0" smtClean="0"/>
          </a:p>
          <a:p>
            <a:pPr>
              <a:lnSpc>
                <a:spcPct val="170000"/>
              </a:lnSpc>
            </a:pPr>
            <a:r>
              <a:rPr lang="en-US" sz="4900" dirty="0" smtClean="0">
                <a:latin typeface="Times New Roman" pitchFamily="18" charset="0"/>
                <a:cs typeface="Times New Roman" pitchFamily="18" charset="0"/>
              </a:rPr>
              <a:t>BY: K.SRINIVASH(30123P08037)</a:t>
            </a:r>
            <a:endParaRPr lang="en-US" sz="4900" i="1" dirty="0" smtClean="0">
              <a:latin typeface="Times New Roman" pitchFamily="18" charset="0"/>
              <a:cs typeface="Times New Roman" pitchFamily="18" charset="0"/>
            </a:endParaRPr>
          </a:p>
          <a:p>
            <a:pPr>
              <a:lnSpc>
                <a:spcPct val="170000"/>
              </a:lnSpc>
            </a:pPr>
            <a:r>
              <a:rPr lang="en-US" sz="4900" dirty="0" smtClean="0">
                <a:latin typeface="Times New Roman" pitchFamily="18" charset="0"/>
                <a:cs typeface="Times New Roman" pitchFamily="18" charset="0"/>
              </a:rPr>
              <a:t>UNDER THE GUIDANCE OF</a:t>
            </a:r>
          </a:p>
          <a:p>
            <a:pPr>
              <a:lnSpc>
                <a:spcPct val="170000"/>
              </a:lnSpc>
            </a:pPr>
            <a:r>
              <a:rPr lang="en-US" sz="4900" b="1" dirty="0" smtClean="0">
                <a:latin typeface="Times New Roman" pitchFamily="18" charset="0"/>
                <a:cs typeface="Times New Roman" pitchFamily="18" charset="0"/>
              </a:rPr>
              <a:t>MRS.K.SANGEETHA , MCA., M.PHIL., B.ED.,</a:t>
            </a:r>
            <a:r>
              <a:rPr lang="en-US" sz="4900" dirty="0" smtClean="0">
                <a:latin typeface="Times New Roman" pitchFamily="18" charset="0"/>
                <a:cs typeface="Times New Roman" pitchFamily="18" charset="0"/>
              </a:rPr>
              <a:t> </a:t>
            </a:r>
            <a:r>
              <a:rPr lang="en-US" sz="4900" b="1" dirty="0" smtClean="0">
                <a:latin typeface="Times New Roman" pitchFamily="18" charset="0"/>
                <a:cs typeface="Times New Roman" pitchFamily="18" charset="0"/>
              </a:rPr>
              <a:t>ASSISTANT PROFESSOR</a:t>
            </a:r>
            <a:endParaRPr lang="en-US" sz="4900" dirty="0" smtClean="0">
              <a:latin typeface="Times New Roman" pitchFamily="18" charset="0"/>
              <a:cs typeface="Times New Roman" pitchFamily="18" charset="0"/>
            </a:endParaRPr>
          </a:p>
          <a:p>
            <a:endParaRPr sz="2900">
              <a:latin typeface="+mj-lt"/>
            </a:endParaRPr>
          </a:p>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420" y="512064"/>
            <a:ext cx="7772400" cy="914400"/>
          </a:xfrm>
        </p:spPr>
        <p:txBody>
          <a:bodyPr/>
          <a:lstStyle/>
          <a:p>
            <a:r>
              <a:rPr lang="en-US" sz="3600" dirty="0" smtClean="0">
                <a:latin typeface="Times New Roman" pitchFamily="18" charset="0"/>
                <a:cs typeface="Times New Roman" pitchFamily="18" charset="0"/>
              </a:rPr>
              <a:t> </a:t>
            </a:r>
            <a:r>
              <a:rPr lang="en-US" sz="3600" dirty="0" smtClean="0">
                <a:effectLst>
                  <a:reflection blurRad="6350" stA="55000" endA="300" endPos="45500" dir="5400000" sy="-100000" algn="bl" rotWithShape="0"/>
                </a:effectLst>
                <a:latin typeface="Times New Roman" pitchFamily="18" charset="0"/>
                <a:cs typeface="Times New Roman" pitchFamily="18" charset="0"/>
              </a:rPr>
              <a:t> ABSTRACT</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sz="quarter" idx="1"/>
          </p:nvPr>
        </p:nvSpPr>
        <p:spPr>
          <a:xfrm>
            <a:off x="495300" y="1539551"/>
            <a:ext cx="8167551" cy="5431536"/>
          </a:xfrm>
        </p:spPr>
        <p:txBody>
          <a:bodyPr vert="horz">
            <a:noAutofit/>
          </a:bodyPr>
          <a:lstStyle/>
          <a:p>
            <a:pPr algn="just">
              <a:buNone/>
            </a:pP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The </a:t>
            </a:r>
            <a:r>
              <a:rPr lang="en-US" sz="2000" dirty="0" err="1" smtClean="0">
                <a:latin typeface="Times New Roman" pitchFamily="18" charset="0"/>
                <a:cs typeface="Times New Roman" pitchFamily="18" charset="0"/>
              </a:rPr>
              <a:t>IoT</a:t>
            </a:r>
            <a:r>
              <a:rPr lang="en-US" sz="2000" dirty="0" smtClean="0">
                <a:latin typeface="Times New Roman" pitchFamily="18" charset="0"/>
                <a:cs typeface="Times New Roman" pitchFamily="18" charset="0"/>
              </a:rPr>
              <a:t>-Based Home Security System is designed to enhance residential security using Smart sensors, real-time alerts, and remote monitoring. This system integrates PIR Motion sensors, door break sensors, an ESP32 microcontroller, a buzzer, and a web Based dashboard to detect intrusions and notify homeowners instantly . When motion or unauthorized entry is detected, the ESP32 processes the data and triggers an alarm while simultaneously sending an alert notification to the user via the web or mobile interface. The system ensures 24/7 surveillance, provides real-time access, and enhances security with remote monitoring and cloud data storage. This project aims to offer a cost effective , user friendly, and scalable solution for modern Home security. Future enhancements include AI-based threat detection, mobile app integration, cloud computing, and smart home automation to further improve reliability and efficiency.</a:t>
            </a:r>
            <a:endParaRPr 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EXISITING SYSTEM</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sz="quarter" idx="1"/>
          </p:nvPr>
        </p:nvSpPr>
        <p:spPr>
          <a:xfrm>
            <a:off x="383798" y="1426464"/>
            <a:ext cx="8382249" cy="4572000"/>
          </a:xfrm>
        </p:spPr>
        <p:txBody>
          <a:bodyPr>
            <a:normAutofit lnSpcReduction="10000"/>
          </a:bodyPr>
          <a:lstStyle/>
          <a:p>
            <a:pPr algn="just">
              <a:buNone/>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In </a:t>
            </a:r>
            <a:r>
              <a:rPr lang="en-US" dirty="0" smtClean="0">
                <a:latin typeface="Times New Roman" pitchFamily="18" charset="0"/>
                <a:cs typeface="Times New Roman" pitchFamily="18" charset="0"/>
              </a:rPr>
              <a:t>recent years, Traditional home automation systems have become low popular among homeowners. The low ability  to control devices such as lighting, heating, and security systems  through a single system has made life much hard for homeowners to monitor. </a:t>
            </a:r>
          </a:p>
          <a:p>
            <a:pPr algn="just">
              <a:buNone/>
            </a:pPr>
            <a:r>
              <a:rPr lang="en-US" dirty="0" smtClean="0">
                <a:latin typeface="Times New Roman" pitchFamily="18" charset="0"/>
                <a:cs typeface="Times New Roman" pitchFamily="18" charset="0"/>
              </a:rPr>
              <a:t>Drawbacks:-</a:t>
            </a:r>
          </a:p>
          <a:p>
            <a:pPr algn="just">
              <a:buNone/>
            </a:pPr>
            <a:r>
              <a:rPr smtClean="0">
                <a:latin typeface="Times New Roman" pitchFamily="18" charset="0"/>
                <a:cs typeface="Times New Roman" pitchFamily="18" charset="0"/>
              </a:rPr>
              <a:t>• </a:t>
            </a:r>
            <a:r>
              <a:rPr>
                <a:latin typeface="Times New Roman" pitchFamily="18" charset="0"/>
                <a:cs typeface="Times New Roman" pitchFamily="18" charset="0"/>
              </a:rPr>
              <a:t>Traditional home security systems lack real-time monitoring.</a:t>
            </a:r>
          </a:p>
          <a:p>
            <a:pPr algn="just">
              <a:buNone/>
            </a:pPr>
            <a:r>
              <a:rPr>
                <a:latin typeface="Times New Roman" pitchFamily="18" charset="0"/>
                <a:cs typeface="Times New Roman" pitchFamily="18" charset="0"/>
              </a:rPr>
              <a:t>• No remote access or automated alerts.</a:t>
            </a:r>
          </a:p>
          <a:p>
            <a:pPr algn="just">
              <a:buNone/>
            </a:pPr>
            <a:endParaRPr>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Proposed System</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sz="quarter" idx="1"/>
          </p:nvPr>
        </p:nvSpPr>
        <p:spPr>
          <a:xfrm>
            <a:off x="612648" y="1455783"/>
            <a:ext cx="7998408" cy="5402217"/>
          </a:xfrm>
        </p:spPr>
        <p:txBody>
          <a:bodyPr>
            <a:normAutofit fontScale="25000" lnSpcReduction="20000"/>
          </a:bodyPr>
          <a:lstStyle/>
          <a:p>
            <a:pPr algn="just">
              <a:lnSpc>
                <a:spcPct val="120000"/>
              </a:lnSpc>
              <a:buNone/>
            </a:pPr>
            <a:r>
              <a:rPr lang="en-US" dirty="0" smtClean="0">
                <a:latin typeface="Times New Roman" pitchFamily="18" charset="0"/>
                <a:cs typeface="Times New Roman" pitchFamily="18" charset="0"/>
              </a:rPr>
              <a:t>     </a:t>
            </a:r>
            <a:r>
              <a:rPr lang="en-US" sz="3800" dirty="0" smtClean="0">
                <a:latin typeface="Times New Roman" pitchFamily="18" charset="0"/>
                <a:cs typeface="Times New Roman" pitchFamily="18" charset="0"/>
              </a:rPr>
              <a:t>	</a:t>
            </a:r>
            <a:r>
              <a:rPr lang="en-US" sz="9600" dirty="0" smtClean="0">
                <a:latin typeface="Times New Roman" pitchFamily="18" charset="0"/>
                <a:cs typeface="Times New Roman" pitchFamily="18" charset="0"/>
              </a:rPr>
              <a:t>    In our project there are two sides as consumer and producer. Producer section is the part of the web application where the producer can manage the system and interact with the consumers. The producer is the administrator of the system who can perform various tasks such as:</a:t>
            </a:r>
          </a:p>
          <a:p>
            <a:pPr algn="just">
              <a:buFont typeface="Wingdings" pitchFamily="2" charset="2"/>
              <a:buChar char="v"/>
            </a:pPr>
            <a:r>
              <a:rPr lang="en-US" sz="9600" dirty="0" smtClean="0">
                <a:latin typeface="Times New Roman" pitchFamily="18" charset="0"/>
                <a:cs typeface="Times New Roman" pitchFamily="18" charset="0"/>
              </a:rPr>
              <a:t>View, edit and delete users and their information. </a:t>
            </a:r>
          </a:p>
          <a:p>
            <a:pPr algn="just">
              <a:buFont typeface="Wingdings" pitchFamily="2" charset="2"/>
              <a:buChar char="v"/>
            </a:pPr>
            <a:r>
              <a:rPr lang="en-US" sz="9600" dirty="0" smtClean="0">
                <a:latin typeface="Times New Roman" pitchFamily="18" charset="0"/>
                <a:cs typeface="Times New Roman" pitchFamily="18" charset="0"/>
              </a:rPr>
              <a:t>View, </a:t>
            </a:r>
            <a:r>
              <a:rPr lang="en-US" sz="9600" dirty="0" err="1" smtClean="0">
                <a:latin typeface="Times New Roman" pitchFamily="18" charset="0"/>
                <a:cs typeface="Times New Roman" pitchFamily="18" charset="0"/>
              </a:rPr>
              <a:t>edit,delete</a:t>
            </a:r>
            <a:r>
              <a:rPr lang="en-US" sz="9600" dirty="0" smtClean="0">
                <a:latin typeface="Times New Roman" pitchFamily="18" charset="0"/>
                <a:cs typeface="Times New Roman" pitchFamily="18" charset="0"/>
              </a:rPr>
              <a:t> ,create rooms and their devices. </a:t>
            </a:r>
          </a:p>
          <a:p>
            <a:pPr algn="just">
              <a:buFont typeface="Wingdings" pitchFamily="2" charset="2"/>
              <a:buChar char="v"/>
            </a:pPr>
            <a:r>
              <a:rPr lang="en-US" sz="9600" dirty="0" smtClean="0">
                <a:latin typeface="Times New Roman" pitchFamily="18" charset="0"/>
                <a:cs typeface="Times New Roman" pitchFamily="18" charset="0"/>
              </a:rPr>
              <a:t>View the graphs of the consumer and act upon it according the how much consumer like to use this project. </a:t>
            </a:r>
          </a:p>
          <a:p>
            <a:pPr algn="just">
              <a:buFont typeface="Wingdings" pitchFamily="2" charset="2"/>
              <a:buChar char="v"/>
            </a:pPr>
            <a:r>
              <a:rPr lang="en-US" sz="9600" dirty="0" err="1" smtClean="0">
                <a:latin typeface="Times New Roman" pitchFamily="18" charset="0"/>
                <a:cs typeface="Times New Roman" pitchFamily="18" charset="0"/>
              </a:rPr>
              <a:t>View,edit,delete</a:t>
            </a:r>
            <a:r>
              <a:rPr lang="en-US" sz="9600" dirty="0" smtClean="0">
                <a:latin typeface="Times New Roman" pitchFamily="18" charset="0"/>
                <a:cs typeface="Times New Roman" pitchFamily="18" charset="0"/>
              </a:rPr>
              <a:t> and create devices and can handle the settings of devices.</a:t>
            </a:r>
          </a:p>
          <a:p>
            <a:pPr algn="just">
              <a:buFont typeface="Wingdings" pitchFamily="2" charset="2"/>
              <a:buChar char="v"/>
            </a:pPr>
            <a:r>
              <a:rPr lang="en-US" sz="9600" dirty="0" smtClean="0">
                <a:latin typeface="Times New Roman" pitchFamily="18" charset="0"/>
                <a:cs typeface="Times New Roman" pitchFamily="18" charset="0"/>
              </a:rPr>
              <a:t>View consumer activities and logs.</a:t>
            </a:r>
          </a:p>
          <a:p>
            <a:pPr algn="just">
              <a:buFont typeface="Wingdings" pitchFamily="2" charset="2"/>
              <a:buChar char="v"/>
            </a:pPr>
            <a:r>
              <a:rPr lang="en-US" sz="9600" dirty="0" smtClean="0">
                <a:latin typeface="Times New Roman" pitchFamily="18" charset="0"/>
                <a:cs typeface="Times New Roman" pitchFamily="18" charset="0"/>
              </a:rPr>
              <a:t>View and respond to messages from consumers. </a:t>
            </a:r>
          </a:p>
          <a:p>
            <a:pPr algn="just">
              <a:buFont typeface="Wingdings" pitchFamily="2" charset="2"/>
              <a:buChar char="v"/>
            </a:pPr>
            <a:r>
              <a:rPr lang="en-US" sz="9600" dirty="0" smtClean="0">
                <a:latin typeface="Times New Roman" pitchFamily="18" charset="0"/>
                <a:cs typeface="Times New Roman" pitchFamily="18" charset="0"/>
              </a:rPr>
              <a:t>Edit their own profile and password</a:t>
            </a:r>
            <a:endParaRPr sz="960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Advantages of Proposed System</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a:buNone/>
            </a:pPr>
            <a:r>
              <a:rPr lang="en-US" dirty="0" smtClean="0">
                <a:latin typeface="Times New Roman" pitchFamily="18" charset="0"/>
                <a:cs typeface="Times New Roman" pitchFamily="18" charset="0"/>
              </a:rPr>
              <a:t>• Device Control</a:t>
            </a:r>
          </a:p>
          <a:p>
            <a:pPr>
              <a:buNone/>
            </a:pPr>
            <a:r>
              <a:rPr lang="en-US" dirty="0" smtClean="0">
                <a:latin typeface="Times New Roman" pitchFamily="18" charset="0"/>
                <a:cs typeface="Times New Roman" pitchFamily="18" charset="0"/>
              </a:rPr>
              <a:t>• Device Monitoring</a:t>
            </a:r>
          </a:p>
          <a:p>
            <a:pPr>
              <a:buNone/>
            </a:pPr>
            <a:r>
              <a:rPr lang="en-US" dirty="0" smtClean="0">
                <a:latin typeface="Times New Roman" pitchFamily="18" charset="0"/>
                <a:cs typeface="Times New Roman" pitchFamily="18" charset="0"/>
              </a:rPr>
              <a:t>• Device Scheduling:</a:t>
            </a:r>
          </a:p>
          <a:p>
            <a:pPr>
              <a:buNone/>
            </a:pPr>
            <a:r>
              <a:rPr lang="en-US" dirty="0" smtClean="0">
                <a:latin typeface="Times New Roman" pitchFamily="18" charset="0"/>
                <a:cs typeface="Times New Roman" pitchFamily="18" charset="0"/>
              </a:rPr>
              <a:t>• Admin Management</a:t>
            </a:r>
          </a:p>
          <a:p>
            <a:pPr>
              <a:buNone/>
            </a:pPr>
            <a:r>
              <a:rPr lang="en-US" dirty="0" smtClean="0">
                <a:latin typeface="Times New Roman" pitchFamily="18" charset="0"/>
                <a:cs typeface="Times New Roman" pitchFamily="18" charset="0"/>
              </a:rPr>
              <a:t>• Admin Control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Methodology Used</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buFont typeface="Wingdings" pitchFamily="2" charset="2"/>
              <a:buChar char="v"/>
            </a:pPr>
            <a:r>
              <a:rPr lang="en-US" dirty="0" smtClean="0">
                <a:latin typeface="Times New Roman" pitchFamily="18" charset="0"/>
                <a:cs typeface="Times New Roman" pitchFamily="18" charset="0"/>
              </a:rPr>
              <a:t> As Tools we used XAMPP Control Panel , </a:t>
            </a:r>
            <a:r>
              <a:rPr lang="en-US" dirty="0" err="1" smtClean="0">
                <a:latin typeface="Times New Roman" pitchFamily="18" charset="0"/>
                <a:cs typeface="Times New Roman" pitchFamily="18" charset="0"/>
              </a:rPr>
              <a:t>MySQL</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PhpMyAdmin</a:t>
            </a:r>
            <a:r>
              <a:rPr lang="en-US" dirty="0" smtClean="0">
                <a:latin typeface="Times New Roman" pitchFamily="18" charset="0"/>
                <a:cs typeface="Times New Roman" pitchFamily="18" charset="0"/>
              </a:rPr>
              <a:t>. For the coding part we used visual studio code. </a:t>
            </a:r>
          </a:p>
          <a:p>
            <a:pPr>
              <a:buFont typeface="Wingdings" pitchFamily="2" charset="2"/>
              <a:buChar char="v"/>
            </a:pPr>
            <a:r>
              <a:rPr lang="en-US" dirty="0" smtClean="0">
                <a:latin typeface="Times New Roman" pitchFamily="18" charset="0"/>
                <a:cs typeface="Times New Roman" pitchFamily="18" charset="0"/>
              </a:rPr>
              <a:t> As method we used PHP , JavaScript , html tags , CSS and Bootstrap.</a:t>
            </a:r>
            <a:endParaRPr>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itchFamily="18" charset="0"/>
                <a:cs typeface="Times New Roman" pitchFamily="18" charset="0"/>
              </a:rPr>
              <a:t>Screenshots of Proposed System </a:t>
            </a:r>
            <a:endParaRPr lang="en-US"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buNone/>
            </a:pPr>
            <a:r>
              <a:rPr lang="en-US" dirty="0" smtClean="0">
                <a:latin typeface="Times New Roman" pitchFamily="18" charset="0"/>
                <a:cs typeface="Times New Roman" pitchFamily="18" charset="0"/>
              </a:rPr>
              <a:t> </a:t>
            </a:r>
            <a:endParaRPr>
              <a:latin typeface="Times New Roman" pitchFamily="18" charset="0"/>
              <a:cs typeface="Times New Roman" pitchFamily="18" charset="0"/>
            </a:endParaRPr>
          </a:p>
        </p:txBody>
      </p:sp>
      <p:sp>
        <p:nvSpPr>
          <p:cNvPr id="4" name="object 2"/>
          <p:cNvSpPr txBox="1"/>
          <p:nvPr/>
        </p:nvSpPr>
        <p:spPr>
          <a:xfrm>
            <a:off x="2072996" y="2220705"/>
            <a:ext cx="1297305" cy="197490"/>
          </a:xfrm>
          <a:prstGeom prst="rect">
            <a:avLst/>
          </a:prstGeom>
        </p:spPr>
        <p:txBody>
          <a:bodyPr vert="horz" wrap="square" lIns="0" tIns="12700" rIns="0" bIns="0" rtlCol="0">
            <a:spAutoFit/>
          </a:bodyPr>
          <a:lstStyle/>
          <a:p>
            <a:pPr marL="12700">
              <a:lnSpc>
                <a:spcPct val="100000"/>
              </a:lnSpc>
              <a:spcBef>
                <a:spcPts val="100"/>
              </a:spcBef>
            </a:pPr>
            <a:r>
              <a:rPr sz="1200" b="1" smtClean="0">
                <a:latin typeface="Times New Roman"/>
                <a:cs typeface="Times New Roman"/>
              </a:rPr>
              <a:t>Login</a:t>
            </a:r>
            <a:r>
              <a:rPr sz="1200" b="1" spc="10" smtClean="0">
                <a:latin typeface="Times New Roman"/>
                <a:cs typeface="Times New Roman"/>
              </a:rPr>
              <a:t> </a:t>
            </a:r>
            <a:r>
              <a:rPr sz="1200" b="1" dirty="0">
                <a:latin typeface="Times New Roman"/>
                <a:cs typeface="Times New Roman"/>
              </a:rPr>
              <a:t>&amp;</a:t>
            </a:r>
            <a:r>
              <a:rPr sz="1200" b="1" spc="-5" dirty="0">
                <a:latin typeface="Times New Roman"/>
                <a:cs typeface="Times New Roman"/>
              </a:rPr>
              <a:t> </a:t>
            </a:r>
            <a:r>
              <a:rPr sz="1200" b="1" spc="-10" dirty="0">
                <a:latin typeface="Times New Roman"/>
                <a:cs typeface="Times New Roman"/>
              </a:rPr>
              <a:t>Signup</a:t>
            </a:r>
            <a:endParaRPr sz="1200">
              <a:latin typeface="Times New Roman"/>
              <a:cs typeface="Times New Roman"/>
            </a:endParaRPr>
          </a:p>
        </p:txBody>
      </p:sp>
      <p:sp>
        <p:nvSpPr>
          <p:cNvPr id="5" name="object 3"/>
          <p:cNvSpPr txBox="1"/>
          <p:nvPr/>
        </p:nvSpPr>
        <p:spPr>
          <a:xfrm>
            <a:off x="3502839" y="6172818"/>
            <a:ext cx="2012314" cy="182742"/>
          </a:xfrm>
          <a:prstGeom prst="rect">
            <a:avLst/>
          </a:prstGeom>
        </p:spPr>
        <p:txBody>
          <a:bodyPr vert="horz" wrap="square" lIns="0" tIns="13335" rIns="0" bIns="0" rtlCol="0">
            <a:spAutoFit/>
          </a:bodyPr>
          <a:lstStyle/>
          <a:p>
            <a:pPr marL="12700">
              <a:lnSpc>
                <a:spcPct val="100000"/>
              </a:lnSpc>
              <a:spcBef>
                <a:spcPts val="105"/>
              </a:spcBef>
            </a:pPr>
            <a:r>
              <a:rPr sz="1100" dirty="0">
                <a:latin typeface="Times New Roman"/>
                <a:cs typeface="Times New Roman"/>
              </a:rPr>
              <a:t>(</a:t>
            </a:r>
            <a:r>
              <a:rPr sz="1100">
                <a:latin typeface="Times New Roman"/>
                <a:cs typeface="Times New Roman"/>
              </a:rPr>
              <a:t>Figure</a:t>
            </a:r>
            <a:r>
              <a:rPr sz="1100" spc="-5">
                <a:latin typeface="Times New Roman"/>
                <a:cs typeface="Times New Roman"/>
              </a:rPr>
              <a:t> </a:t>
            </a:r>
            <a:r>
              <a:rPr lang="en-US" sz="1100" spc="-5" dirty="0">
                <a:latin typeface="Times New Roman"/>
                <a:cs typeface="Times New Roman"/>
              </a:rPr>
              <a:t>1</a:t>
            </a:r>
            <a:r>
              <a:rPr sz="1100" smtClean="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This</a:t>
            </a:r>
            <a:r>
              <a:rPr sz="1100" spc="-10"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dirty="0">
                <a:latin typeface="Times New Roman"/>
                <a:cs typeface="Times New Roman"/>
              </a:rPr>
              <a:t>our Login</a:t>
            </a:r>
            <a:r>
              <a:rPr sz="1100" spc="-5" dirty="0">
                <a:latin typeface="Times New Roman"/>
                <a:cs typeface="Times New Roman"/>
              </a:rPr>
              <a:t> </a:t>
            </a:r>
            <a:r>
              <a:rPr sz="1100" dirty="0">
                <a:latin typeface="Times New Roman"/>
                <a:cs typeface="Times New Roman"/>
              </a:rPr>
              <a:t>Page</a:t>
            </a:r>
            <a:r>
              <a:rPr sz="1100" spc="-10" dirty="0">
                <a:latin typeface="Times New Roman"/>
                <a:cs typeface="Times New Roman"/>
              </a:rPr>
              <a:t> </a:t>
            </a:r>
            <a:r>
              <a:rPr sz="1100" spc="-50" dirty="0">
                <a:latin typeface="Times New Roman"/>
                <a:cs typeface="Times New Roman"/>
              </a:rPr>
              <a:t>)</a:t>
            </a:r>
            <a:endParaRPr sz="1100">
              <a:latin typeface="Times New Roman"/>
              <a:cs typeface="Times New Roman"/>
            </a:endParaRPr>
          </a:p>
        </p:txBody>
      </p:sp>
      <p:pic>
        <p:nvPicPr>
          <p:cNvPr id="6" name="object 4"/>
          <p:cNvPicPr/>
          <p:nvPr/>
        </p:nvPicPr>
        <p:blipFill>
          <a:blip r:embed="rId2" cstate="print"/>
          <a:stretch>
            <a:fillRect/>
          </a:stretch>
        </p:blipFill>
        <p:spPr>
          <a:xfrm>
            <a:off x="1856792" y="2464799"/>
            <a:ext cx="5943600" cy="3597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smtClean="0"/>
              <a:t>Register page</a:t>
            </a:r>
            <a:endParaRPr lang="en-US" dirty="0"/>
          </a:p>
        </p:txBody>
      </p:sp>
      <p:sp>
        <p:nvSpPr>
          <p:cNvPr id="5" name="Content Placeholder 4"/>
          <p:cNvSpPr>
            <a:spLocks noGrp="1"/>
          </p:cNvSpPr>
          <p:nvPr>
            <p:ph sz="quarter" idx="1"/>
          </p:nvPr>
        </p:nvSpPr>
        <p:spPr>
          <a:xfrm>
            <a:off x="782320" y="0"/>
            <a:ext cx="7904480" cy="6355560"/>
          </a:xfrm>
        </p:spPr>
        <p:txBody>
          <a:bodyPr>
            <a:normAutofit/>
          </a:bodyPr>
          <a:lstStyle/>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lgn="ctr">
              <a:buNone/>
            </a:pP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6" name="object 2"/>
          <p:cNvSpPr txBox="1"/>
          <p:nvPr/>
        </p:nvSpPr>
        <p:spPr>
          <a:xfrm>
            <a:off x="3587595" y="6446931"/>
            <a:ext cx="2272030" cy="182742"/>
          </a:xfrm>
          <a:prstGeom prst="rect">
            <a:avLst/>
          </a:prstGeom>
        </p:spPr>
        <p:txBody>
          <a:bodyPr vert="horz" wrap="square" lIns="0" tIns="13335" rIns="0" bIns="0" rtlCol="0">
            <a:spAutoFit/>
          </a:bodyPr>
          <a:lstStyle/>
          <a:p>
            <a:pPr marL="12700" algn="just">
              <a:lnSpc>
                <a:spcPct val="100000"/>
              </a:lnSpc>
              <a:spcBef>
                <a:spcPts val="105"/>
              </a:spcBef>
            </a:pPr>
            <a:r>
              <a:rPr sz="1100" dirty="0">
                <a:latin typeface="Times New Roman"/>
                <a:cs typeface="Times New Roman"/>
              </a:rPr>
              <a:t>(</a:t>
            </a:r>
            <a:r>
              <a:rPr sz="1100">
                <a:latin typeface="Times New Roman"/>
                <a:cs typeface="Times New Roman"/>
              </a:rPr>
              <a:t>Figure</a:t>
            </a:r>
            <a:r>
              <a:rPr sz="1100" spc="-5">
                <a:latin typeface="Times New Roman"/>
                <a:cs typeface="Times New Roman"/>
              </a:rPr>
              <a:t> </a:t>
            </a:r>
            <a:r>
              <a:rPr lang="en-US" sz="1100" spc="-5" dirty="0">
                <a:latin typeface="Times New Roman"/>
                <a:cs typeface="Times New Roman"/>
              </a:rPr>
              <a:t>2</a:t>
            </a:r>
            <a:r>
              <a:rPr sz="1100" spc="-5" smtClean="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This</a:t>
            </a:r>
            <a:r>
              <a:rPr sz="1100" spc="-15" dirty="0">
                <a:latin typeface="Times New Roman"/>
                <a:cs typeface="Times New Roman"/>
              </a:rPr>
              <a:t> </a:t>
            </a:r>
            <a:r>
              <a:rPr sz="1100" dirty="0">
                <a:latin typeface="Times New Roman"/>
                <a:cs typeface="Times New Roman"/>
              </a:rPr>
              <a:t>is our</a:t>
            </a:r>
            <a:r>
              <a:rPr sz="1100" spc="-5" dirty="0">
                <a:latin typeface="Times New Roman"/>
                <a:cs typeface="Times New Roman"/>
              </a:rPr>
              <a:t> </a:t>
            </a:r>
            <a:r>
              <a:rPr sz="1100" dirty="0">
                <a:latin typeface="Times New Roman"/>
                <a:cs typeface="Times New Roman"/>
              </a:rPr>
              <a:t>registration</a:t>
            </a:r>
            <a:r>
              <a:rPr sz="1100" spc="-5" dirty="0">
                <a:latin typeface="Times New Roman"/>
                <a:cs typeface="Times New Roman"/>
              </a:rPr>
              <a:t> </a:t>
            </a:r>
            <a:r>
              <a:rPr sz="1100" spc="-20" dirty="0">
                <a:latin typeface="Times New Roman"/>
                <a:cs typeface="Times New Roman"/>
              </a:rPr>
              <a:t>page)</a:t>
            </a:r>
            <a:endParaRPr sz="1100">
              <a:latin typeface="Times New Roman"/>
              <a:cs typeface="Times New Roman"/>
            </a:endParaRPr>
          </a:p>
        </p:txBody>
      </p:sp>
      <p:pic>
        <p:nvPicPr>
          <p:cNvPr id="8" name="object 3"/>
          <p:cNvPicPr/>
          <p:nvPr/>
        </p:nvPicPr>
        <p:blipFill>
          <a:blip r:embed="rId2" cstate="print"/>
          <a:stretch>
            <a:fillRect/>
          </a:stretch>
        </p:blipFill>
        <p:spPr>
          <a:xfrm>
            <a:off x="1740159" y="1502229"/>
            <a:ext cx="5943599" cy="51274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effectLst>
                  <a:reflection blurRad="6350" stA="55000" endA="300" endPos="45500" dir="5400000" sy="-100000" algn="bl" rotWithShape="0"/>
                </a:effectLst>
                <a:latin typeface="Times New Roman" pitchFamily="18" charset="0"/>
                <a:cs typeface="Times New Roman" pitchFamily="18" charset="0"/>
              </a:rPr>
              <a:t> </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5" name="Content Placeholder 4"/>
          <p:cNvSpPr>
            <a:spLocks noGrp="1"/>
          </p:cNvSpPr>
          <p:nvPr>
            <p:ph sz="quarter" idx="1"/>
          </p:nvPr>
        </p:nvSpPr>
        <p:spPr/>
        <p:txBody>
          <a:bodyPr/>
          <a:lstStyle/>
          <a:p>
            <a:pPr>
              <a:buNone/>
            </a:pPr>
            <a:r>
              <a:rPr lang="en-IN" dirty="0" smtClean="0"/>
              <a:t> </a:t>
            </a:r>
            <a:endParaRPr lang="en-US" dirty="0"/>
          </a:p>
        </p:txBody>
      </p:sp>
      <p:sp>
        <p:nvSpPr>
          <p:cNvPr id="6" name="object 2"/>
          <p:cNvSpPr txBox="1"/>
          <p:nvPr/>
        </p:nvSpPr>
        <p:spPr>
          <a:xfrm>
            <a:off x="612648" y="764697"/>
            <a:ext cx="1595535" cy="443711"/>
          </a:xfrm>
          <a:prstGeom prst="rect">
            <a:avLst/>
          </a:prstGeom>
        </p:spPr>
        <p:txBody>
          <a:bodyPr vert="horz" wrap="square" lIns="0" tIns="12700" rIns="0" bIns="0" rtlCol="0">
            <a:spAutoFit/>
          </a:bodyPr>
          <a:lstStyle/>
          <a:p>
            <a:pPr marL="12700">
              <a:lnSpc>
                <a:spcPct val="100000"/>
              </a:lnSpc>
              <a:spcBef>
                <a:spcPts val="100"/>
              </a:spcBef>
            </a:pPr>
            <a:r>
              <a:rPr lang="en-US" sz="2800" b="1" spc="145" dirty="0" smtClean="0">
                <a:latin typeface="Times New Roman"/>
                <a:cs typeface="Times New Roman"/>
              </a:rPr>
              <a:t>Admin</a:t>
            </a:r>
            <a:r>
              <a:rPr sz="1200" b="1" spc="145" smtClean="0">
                <a:latin typeface="Times New Roman"/>
                <a:cs typeface="Times New Roman"/>
              </a:rPr>
              <a:t>  </a:t>
            </a:r>
            <a:endParaRPr sz="1200">
              <a:latin typeface="Times New Roman"/>
              <a:cs typeface="Times New Roman"/>
            </a:endParaRPr>
          </a:p>
        </p:txBody>
      </p:sp>
      <p:sp>
        <p:nvSpPr>
          <p:cNvPr id="7" name="object 3"/>
          <p:cNvSpPr txBox="1"/>
          <p:nvPr/>
        </p:nvSpPr>
        <p:spPr>
          <a:xfrm>
            <a:off x="1993759" y="3830062"/>
            <a:ext cx="4300855" cy="182101"/>
          </a:xfrm>
          <a:prstGeom prst="rect">
            <a:avLst/>
          </a:prstGeom>
        </p:spPr>
        <p:txBody>
          <a:bodyPr vert="horz" wrap="square" lIns="0" tIns="12700" rIns="0" bIns="0" rtlCol="0">
            <a:spAutoFit/>
          </a:bodyPr>
          <a:lstStyle/>
          <a:p>
            <a:pPr algn="ctr">
              <a:lnSpc>
                <a:spcPct val="100000"/>
              </a:lnSpc>
              <a:spcBef>
                <a:spcPts val="100"/>
              </a:spcBef>
            </a:pPr>
            <a:r>
              <a:rPr sz="1100" dirty="0">
                <a:latin typeface="Times New Roman"/>
                <a:cs typeface="Times New Roman"/>
              </a:rPr>
              <a:t>(</a:t>
            </a:r>
            <a:r>
              <a:rPr sz="1100">
                <a:latin typeface="Times New Roman"/>
                <a:cs typeface="Times New Roman"/>
              </a:rPr>
              <a:t>Figure</a:t>
            </a:r>
            <a:r>
              <a:rPr sz="1100" spc="-5">
                <a:latin typeface="Times New Roman"/>
                <a:cs typeface="Times New Roman"/>
              </a:rPr>
              <a:t> </a:t>
            </a:r>
            <a:r>
              <a:rPr lang="en-US" sz="1100" spc="-5" dirty="0">
                <a:latin typeface="Times New Roman"/>
                <a:cs typeface="Times New Roman"/>
              </a:rPr>
              <a:t>3</a:t>
            </a:r>
            <a:r>
              <a:rPr sz="1100" spc="-5" smtClean="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This</a:t>
            </a:r>
            <a:r>
              <a:rPr sz="1100" spc="-15" dirty="0">
                <a:latin typeface="Times New Roman"/>
                <a:cs typeface="Times New Roman"/>
              </a:rPr>
              <a:t> </a:t>
            </a:r>
            <a:r>
              <a:rPr sz="1100" dirty="0">
                <a:latin typeface="Times New Roman"/>
                <a:cs typeface="Times New Roman"/>
              </a:rPr>
              <a:t>is</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producer</a:t>
            </a:r>
            <a:r>
              <a:rPr sz="1100" spc="-10" dirty="0">
                <a:latin typeface="Times New Roman"/>
                <a:cs typeface="Times New Roman"/>
              </a:rPr>
              <a:t> </a:t>
            </a:r>
            <a:r>
              <a:rPr sz="1100" dirty="0">
                <a:latin typeface="Times New Roman"/>
                <a:cs typeface="Times New Roman"/>
              </a:rPr>
              <a:t>room page where</a:t>
            </a:r>
            <a:r>
              <a:rPr sz="1100" spc="-15" dirty="0">
                <a:latin typeface="Times New Roman"/>
                <a:cs typeface="Times New Roman"/>
              </a:rPr>
              <a:t> </a:t>
            </a:r>
            <a:r>
              <a:rPr sz="1100" dirty="0">
                <a:latin typeface="Times New Roman"/>
                <a:cs typeface="Times New Roman"/>
              </a:rPr>
              <a:t>i</a:t>
            </a:r>
            <a:r>
              <a:rPr sz="1100" spc="5" dirty="0">
                <a:latin typeface="Times New Roman"/>
                <a:cs typeface="Times New Roman"/>
              </a:rPr>
              <a:t> </a:t>
            </a:r>
            <a:r>
              <a:rPr sz="1100" dirty="0">
                <a:latin typeface="Times New Roman"/>
                <a:cs typeface="Times New Roman"/>
              </a:rPr>
              <a:t>can</a:t>
            </a:r>
            <a:r>
              <a:rPr sz="1100" spc="-20" dirty="0">
                <a:latin typeface="Times New Roman"/>
                <a:cs typeface="Times New Roman"/>
              </a:rPr>
              <a:t> </a:t>
            </a:r>
            <a:r>
              <a:rPr sz="1100" dirty="0">
                <a:latin typeface="Times New Roman"/>
                <a:cs typeface="Times New Roman"/>
              </a:rPr>
              <a:t>see consumers</a:t>
            </a:r>
            <a:r>
              <a:rPr sz="1100" spc="-15" dirty="0">
                <a:latin typeface="Times New Roman"/>
                <a:cs typeface="Times New Roman"/>
              </a:rPr>
              <a:t> </a:t>
            </a:r>
            <a:r>
              <a:rPr sz="1100" spc="-10">
                <a:latin typeface="Times New Roman"/>
                <a:cs typeface="Times New Roman"/>
              </a:rPr>
              <a:t>room</a:t>
            </a:r>
            <a:r>
              <a:rPr sz="1100" spc="-10" smtClean="0">
                <a:latin typeface="Times New Roman"/>
                <a:cs typeface="Times New Roman"/>
              </a:rPr>
              <a:t>)</a:t>
            </a:r>
            <a:endParaRPr sz="1100">
              <a:latin typeface="Times New Roman"/>
              <a:cs typeface="Times New Roman"/>
            </a:endParaRPr>
          </a:p>
        </p:txBody>
      </p:sp>
      <p:sp>
        <p:nvSpPr>
          <p:cNvPr id="8" name="object 4"/>
          <p:cNvSpPr txBox="1"/>
          <p:nvPr/>
        </p:nvSpPr>
        <p:spPr>
          <a:xfrm>
            <a:off x="1993759" y="6469985"/>
            <a:ext cx="4457700" cy="182742"/>
          </a:xfrm>
          <a:prstGeom prst="rect">
            <a:avLst/>
          </a:prstGeom>
        </p:spPr>
        <p:txBody>
          <a:bodyPr vert="horz" wrap="square" lIns="0" tIns="13335" rIns="0" bIns="0" rtlCol="0">
            <a:spAutoFit/>
          </a:bodyPr>
          <a:lstStyle/>
          <a:p>
            <a:pPr algn="ctr">
              <a:lnSpc>
                <a:spcPct val="100000"/>
              </a:lnSpc>
              <a:spcBef>
                <a:spcPts val="105"/>
              </a:spcBef>
            </a:pPr>
            <a:r>
              <a:rPr sz="1100" dirty="0">
                <a:latin typeface="Times New Roman"/>
                <a:cs typeface="Times New Roman"/>
              </a:rPr>
              <a:t>(</a:t>
            </a:r>
            <a:r>
              <a:rPr sz="1100">
                <a:latin typeface="Times New Roman"/>
                <a:cs typeface="Times New Roman"/>
              </a:rPr>
              <a:t>Figure</a:t>
            </a:r>
            <a:r>
              <a:rPr sz="1100" spc="-5">
                <a:latin typeface="Times New Roman"/>
                <a:cs typeface="Times New Roman"/>
              </a:rPr>
              <a:t> </a:t>
            </a:r>
            <a:r>
              <a:rPr lang="en-US" sz="1100" spc="-5" dirty="0">
                <a:latin typeface="Times New Roman"/>
                <a:cs typeface="Times New Roman"/>
              </a:rPr>
              <a:t>4</a:t>
            </a:r>
            <a:r>
              <a:rPr sz="1100" spc="-5" smtClean="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This</a:t>
            </a:r>
            <a:r>
              <a:rPr sz="1100" spc="-10" dirty="0">
                <a:latin typeface="Times New Roman"/>
                <a:cs typeface="Times New Roman"/>
              </a:rPr>
              <a:t> </a:t>
            </a:r>
            <a:r>
              <a:rPr sz="1100" dirty="0">
                <a:latin typeface="Times New Roman"/>
                <a:cs typeface="Times New Roman"/>
              </a:rPr>
              <a:t>is</a:t>
            </a:r>
            <a:r>
              <a:rPr sz="1100" spc="-15" dirty="0">
                <a:latin typeface="Times New Roman"/>
                <a:cs typeface="Times New Roman"/>
              </a:rPr>
              <a:t> </a:t>
            </a:r>
            <a:r>
              <a:rPr sz="1100" dirty="0">
                <a:latin typeface="Times New Roman"/>
                <a:cs typeface="Times New Roman"/>
              </a:rPr>
              <a:t>the</a:t>
            </a:r>
            <a:r>
              <a:rPr sz="1100" spc="-15" dirty="0">
                <a:latin typeface="Times New Roman"/>
                <a:cs typeface="Times New Roman"/>
              </a:rPr>
              <a:t> </a:t>
            </a:r>
            <a:r>
              <a:rPr sz="1100" dirty="0">
                <a:latin typeface="Times New Roman"/>
                <a:cs typeface="Times New Roman"/>
              </a:rPr>
              <a:t>rooms page</a:t>
            </a:r>
            <a:r>
              <a:rPr sz="1100" spc="-5" dirty="0">
                <a:latin typeface="Times New Roman"/>
                <a:cs typeface="Times New Roman"/>
              </a:rPr>
              <a:t> </a:t>
            </a:r>
            <a:r>
              <a:rPr sz="1100" dirty="0">
                <a:latin typeface="Times New Roman"/>
                <a:cs typeface="Times New Roman"/>
              </a:rPr>
              <a:t>where</a:t>
            </a:r>
            <a:r>
              <a:rPr sz="1100" spc="-15" dirty="0">
                <a:latin typeface="Times New Roman"/>
                <a:cs typeface="Times New Roman"/>
              </a:rPr>
              <a:t> </a:t>
            </a:r>
            <a:r>
              <a:rPr sz="1100" dirty="0">
                <a:latin typeface="Times New Roman"/>
                <a:cs typeface="Times New Roman"/>
              </a:rPr>
              <a:t>i can check</a:t>
            </a:r>
            <a:r>
              <a:rPr sz="1100" spc="-20" dirty="0">
                <a:latin typeface="Times New Roman"/>
                <a:cs typeface="Times New Roman"/>
              </a:rPr>
              <a:t> </a:t>
            </a:r>
            <a:r>
              <a:rPr sz="1100" dirty="0">
                <a:latin typeface="Times New Roman"/>
                <a:cs typeface="Times New Roman"/>
              </a:rPr>
              <a:t>singular</a:t>
            </a:r>
            <a:r>
              <a:rPr sz="1100" spc="-5" dirty="0">
                <a:latin typeface="Times New Roman"/>
                <a:cs typeface="Times New Roman"/>
              </a:rPr>
              <a:t> </a:t>
            </a:r>
            <a:r>
              <a:rPr sz="1100" dirty="0">
                <a:latin typeface="Times New Roman"/>
                <a:cs typeface="Times New Roman"/>
              </a:rPr>
              <a:t>consumers </a:t>
            </a:r>
            <a:r>
              <a:rPr sz="1100" spc="-10">
                <a:latin typeface="Times New Roman"/>
                <a:cs typeface="Times New Roman"/>
              </a:rPr>
              <a:t>room</a:t>
            </a:r>
            <a:r>
              <a:rPr sz="1100" spc="-10" smtClean="0">
                <a:latin typeface="Times New Roman"/>
                <a:cs typeface="Times New Roman"/>
              </a:rPr>
              <a:t>)</a:t>
            </a:r>
            <a:endParaRPr sz="1100">
              <a:latin typeface="Times New Roman"/>
              <a:cs typeface="Times New Roman"/>
            </a:endParaRPr>
          </a:p>
        </p:txBody>
      </p:sp>
      <p:pic>
        <p:nvPicPr>
          <p:cNvPr id="9" name="object 6"/>
          <p:cNvPicPr/>
          <p:nvPr/>
        </p:nvPicPr>
        <p:blipFill>
          <a:blip r:embed="rId2" cstate="print"/>
          <a:stretch>
            <a:fillRect/>
          </a:stretch>
        </p:blipFill>
        <p:spPr>
          <a:xfrm>
            <a:off x="1166327" y="1771392"/>
            <a:ext cx="5943600" cy="2058670"/>
          </a:xfrm>
          <a:prstGeom prst="rect">
            <a:avLst/>
          </a:prstGeom>
        </p:spPr>
      </p:pic>
      <p:pic>
        <p:nvPicPr>
          <p:cNvPr id="10" name="object 7"/>
          <p:cNvPicPr/>
          <p:nvPr/>
        </p:nvPicPr>
        <p:blipFill>
          <a:blip r:embed="rId3" cstate="print"/>
          <a:stretch>
            <a:fillRect/>
          </a:stretch>
        </p:blipFill>
        <p:spPr>
          <a:xfrm>
            <a:off x="1306286" y="4379566"/>
            <a:ext cx="5943600" cy="20904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Devices &amp; Add Rooms</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5" name="Content Placeholder 4"/>
          <p:cNvSpPr>
            <a:spLocks noGrp="1"/>
          </p:cNvSpPr>
          <p:nvPr>
            <p:ph sz="quarter" idx="1"/>
          </p:nvPr>
        </p:nvSpPr>
        <p:spPr>
          <a:xfrm>
            <a:off x="755780" y="597158"/>
            <a:ext cx="7772400" cy="4245429"/>
          </a:xfrm>
        </p:spPr>
        <p:txBody>
          <a:bodyPr/>
          <a:lstStyle/>
          <a:p>
            <a:pPr>
              <a:buNone/>
            </a:pPr>
            <a:r>
              <a:rPr lang="en-IN" dirty="0" smtClean="0"/>
              <a:t> </a:t>
            </a:r>
            <a:endParaRPr lang="en-US" dirty="0"/>
          </a:p>
        </p:txBody>
      </p:sp>
      <p:sp>
        <p:nvSpPr>
          <p:cNvPr id="6" name="object 2"/>
          <p:cNvSpPr txBox="1"/>
          <p:nvPr/>
        </p:nvSpPr>
        <p:spPr>
          <a:xfrm>
            <a:off x="1606913" y="4327703"/>
            <a:ext cx="5904230" cy="514885"/>
          </a:xfrm>
          <a:prstGeom prst="rect">
            <a:avLst/>
          </a:prstGeom>
        </p:spPr>
        <p:txBody>
          <a:bodyPr vert="horz" wrap="square" lIns="0" tIns="24765" rIns="0" bIns="0" rtlCol="0">
            <a:spAutoFit/>
          </a:bodyPr>
          <a:lstStyle/>
          <a:p>
            <a:pPr marL="82550" marR="10795" algn="ctr">
              <a:lnSpc>
                <a:spcPts val="1260"/>
              </a:lnSpc>
              <a:spcBef>
                <a:spcPts val="195"/>
              </a:spcBef>
            </a:pPr>
            <a:r>
              <a:rPr sz="1100" dirty="0">
                <a:latin typeface="Times New Roman"/>
                <a:cs typeface="Times New Roman"/>
              </a:rPr>
              <a:t>(</a:t>
            </a:r>
            <a:r>
              <a:rPr sz="1100">
                <a:latin typeface="Times New Roman"/>
                <a:cs typeface="Times New Roman"/>
              </a:rPr>
              <a:t>Figure</a:t>
            </a:r>
            <a:r>
              <a:rPr sz="1100" spc="-10">
                <a:latin typeface="Times New Roman"/>
                <a:cs typeface="Times New Roman"/>
              </a:rPr>
              <a:t> </a:t>
            </a:r>
            <a:r>
              <a:rPr lang="en-IN" sz="1100" spc="-10" dirty="0">
                <a:latin typeface="Times New Roman"/>
                <a:cs typeface="Times New Roman"/>
              </a:rPr>
              <a:t>5</a:t>
            </a:r>
            <a:r>
              <a:rPr sz="1100" spc="-20" smtClean="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This</a:t>
            </a:r>
            <a:r>
              <a:rPr sz="1100" spc="-5" dirty="0">
                <a:latin typeface="Times New Roman"/>
                <a:cs typeface="Times New Roman"/>
              </a:rPr>
              <a:t> </a:t>
            </a:r>
            <a:r>
              <a:rPr sz="1100" dirty="0">
                <a:latin typeface="Times New Roman"/>
                <a:cs typeface="Times New Roman"/>
              </a:rPr>
              <a:t>is</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page</a:t>
            </a:r>
            <a:r>
              <a:rPr sz="1100" spc="-15" dirty="0">
                <a:latin typeface="Times New Roman"/>
                <a:cs typeface="Times New Roman"/>
              </a:rPr>
              <a:t> </a:t>
            </a: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we</a:t>
            </a:r>
            <a:r>
              <a:rPr sz="1100" spc="-20" dirty="0">
                <a:latin typeface="Times New Roman"/>
                <a:cs typeface="Times New Roman"/>
              </a:rPr>
              <a:t> </a:t>
            </a:r>
            <a:r>
              <a:rPr sz="1100" dirty="0">
                <a:latin typeface="Times New Roman"/>
                <a:cs typeface="Times New Roman"/>
              </a:rPr>
              <a:t>can</a:t>
            </a:r>
            <a:r>
              <a:rPr sz="1100" spc="-20" dirty="0">
                <a:latin typeface="Times New Roman"/>
                <a:cs typeface="Times New Roman"/>
              </a:rPr>
              <a:t> </a:t>
            </a:r>
            <a:r>
              <a:rPr sz="1100" dirty="0">
                <a:latin typeface="Times New Roman"/>
                <a:cs typeface="Times New Roman"/>
              </a:rPr>
              <a:t>see</a:t>
            </a:r>
            <a:r>
              <a:rPr sz="1100" spc="-20" dirty="0">
                <a:latin typeface="Times New Roman"/>
                <a:cs typeface="Times New Roman"/>
              </a:rPr>
              <a:t> </a:t>
            </a:r>
            <a:r>
              <a:rPr sz="1100">
                <a:latin typeface="Times New Roman"/>
                <a:cs typeface="Times New Roman"/>
              </a:rPr>
              <a:t>the</a:t>
            </a:r>
            <a:r>
              <a:rPr sz="1100" spc="-5">
                <a:latin typeface="Times New Roman"/>
                <a:cs typeface="Times New Roman"/>
              </a:rPr>
              <a:t> </a:t>
            </a:r>
            <a:r>
              <a:rPr sz="1100" smtClean="0">
                <a:latin typeface="Times New Roman"/>
                <a:cs typeface="Times New Roman"/>
              </a:rPr>
              <a:t>devices</a:t>
            </a:r>
            <a:r>
              <a:rPr sz="1100" spc="-25" smtClean="0">
                <a:latin typeface="Times New Roman"/>
                <a:cs typeface="Times New Roman"/>
              </a:rPr>
              <a:t>)</a:t>
            </a:r>
            <a:endParaRPr sz="1100">
              <a:latin typeface="Times New Roman"/>
              <a:cs typeface="Times New Roman"/>
            </a:endParaRPr>
          </a:p>
          <a:p>
            <a:pPr marL="64135" algn="ctr">
              <a:lnSpc>
                <a:spcPct val="100000"/>
              </a:lnSpc>
              <a:spcBef>
                <a:spcPts val="1210"/>
              </a:spcBef>
            </a:pPr>
            <a:r>
              <a:rPr sz="1100" smtClean="0">
                <a:latin typeface="Times New Roman"/>
                <a:cs typeface="Times New Roman"/>
              </a:rPr>
              <a:t>So</a:t>
            </a:r>
            <a:r>
              <a:rPr sz="1100" spc="-10" smtClean="0">
                <a:latin typeface="Times New Roman"/>
                <a:cs typeface="Times New Roman"/>
              </a:rPr>
              <a:t> </a:t>
            </a:r>
            <a:r>
              <a:rPr sz="1100" dirty="0">
                <a:latin typeface="Times New Roman"/>
                <a:cs typeface="Times New Roman"/>
              </a:rPr>
              <a:t>Lets</a:t>
            </a:r>
            <a:r>
              <a:rPr sz="1100" spc="-15" dirty="0">
                <a:latin typeface="Times New Roman"/>
                <a:cs typeface="Times New Roman"/>
              </a:rPr>
              <a:t> </a:t>
            </a:r>
            <a:r>
              <a:rPr sz="1100" dirty="0">
                <a:latin typeface="Times New Roman"/>
                <a:cs typeface="Times New Roman"/>
              </a:rPr>
              <a:t>Add</a:t>
            </a:r>
            <a:r>
              <a:rPr sz="1100" spc="-5" dirty="0">
                <a:latin typeface="Times New Roman"/>
                <a:cs typeface="Times New Roman"/>
              </a:rPr>
              <a:t> </a:t>
            </a:r>
            <a:r>
              <a:rPr sz="1100" dirty="0">
                <a:latin typeface="Times New Roman"/>
                <a:cs typeface="Times New Roman"/>
              </a:rPr>
              <a:t>More</a:t>
            </a:r>
            <a:r>
              <a:rPr sz="1100" spc="-5" dirty="0">
                <a:latin typeface="Times New Roman"/>
                <a:cs typeface="Times New Roman"/>
              </a:rPr>
              <a:t> </a:t>
            </a:r>
            <a:r>
              <a:rPr sz="1100" dirty="0">
                <a:latin typeface="Times New Roman"/>
                <a:cs typeface="Times New Roman"/>
              </a:rPr>
              <a:t>Room</a:t>
            </a:r>
            <a:r>
              <a:rPr sz="1100" spc="-15" dirty="0">
                <a:latin typeface="Times New Roman"/>
                <a:cs typeface="Times New Roman"/>
              </a:rPr>
              <a:t> </a:t>
            </a:r>
            <a:r>
              <a:rPr sz="1100" dirty="0">
                <a:latin typeface="Times New Roman"/>
                <a:cs typeface="Times New Roman"/>
              </a:rPr>
              <a:t>to</a:t>
            </a:r>
            <a:r>
              <a:rPr sz="1100" spc="-25" dirty="0">
                <a:latin typeface="Times New Roman"/>
                <a:cs typeface="Times New Roman"/>
              </a:rPr>
              <a:t> </a:t>
            </a:r>
            <a:r>
              <a:rPr sz="1100" dirty="0">
                <a:latin typeface="Times New Roman"/>
                <a:cs typeface="Times New Roman"/>
              </a:rPr>
              <a:t>consumer</a:t>
            </a:r>
            <a:r>
              <a:rPr sz="1100" spc="-5" dirty="0">
                <a:latin typeface="Times New Roman"/>
                <a:cs typeface="Times New Roman"/>
              </a:rPr>
              <a:t> </a:t>
            </a:r>
            <a:r>
              <a:rPr sz="1100" dirty="0">
                <a:latin typeface="Times New Roman"/>
                <a:cs typeface="Times New Roman"/>
              </a:rPr>
              <a:t>using</a:t>
            </a:r>
            <a:r>
              <a:rPr sz="1100" spc="-2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button</a:t>
            </a:r>
            <a:r>
              <a:rPr sz="1100" spc="-20" dirty="0">
                <a:latin typeface="Times New Roman"/>
                <a:cs typeface="Times New Roman"/>
              </a:rPr>
              <a:t> </a:t>
            </a:r>
            <a:r>
              <a:rPr sz="1100" dirty="0">
                <a:latin typeface="Times New Roman"/>
                <a:cs typeface="Times New Roman"/>
              </a:rPr>
              <a:t>says</a:t>
            </a:r>
            <a:r>
              <a:rPr sz="1100" spc="-20" dirty="0">
                <a:latin typeface="Times New Roman"/>
                <a:cs typeface="Times New Roman"/>
              </a:rPr>
              <a:t> </a:t>
            </a:r>
            <a:r>
              <a:rPr sz="1100" dirty="0">
                <a:latin typeface="Times New Roman"/>
                <a:cs typeface="Times New Roman"/>
              </a:rPr>
              <a:t>“Add</a:t>
            </a:r>
            <a:r>
              <a:rPr sz="1100" spc="-5" dirty="0">
                <a:latin typeface="Times New Roman"/>
                <a:cs typeface="Times New Roman"/>
              </a:rPr>
              <a:t> </a:t>
            </a:r>
            <a:r>
              <a:rPr sz="1100" dirty="0">
                <a:latin typeface="Times New Roman"/>
                <a:cs typeface="Times New Roman"/>
              </a:rPr>
              <a:t>More</a:t>
            </a:r>
            <a:r>
              <a:rPr sz="1100" spc="-5" dirty="0">
                <a:latin typeface="Times New Roman"/>
                <a:cs typeface="Times New Roman"/>
              </a:rPr>
              <a:t> </a:t>
            </a:r>
            <a:r>
              <a:rPr sz="1100" spc="-10" dirty="0">
                <a:latin typeface="Times New Roman"/>
                <a:cs typeface="Times New Roman"/>
              </a:rPr>
              <a:t>Room”</a:t>
            </a:r>
            <a:endParaRPr sz="1100">
              <a:latin typeface="Times New Roman"/>
              <a:cs typeface="Times New Roman"/>
            </a:endParaRPr>
          </a:p>
        </p:txBody>
      </p:sp>
      <p:sp>
        <p:nvSpPr>
          <p:cNvPr id="7" name="object 3"/>
          <p:cNvSpPr txBox="1"/>
          <p:nvPr/>
        </p:nvSpPr>
        <p:spPr>
          <a:xfrm>
            <a:off x="3004457" y="6675899"/>
            <a:ext cx="3125470" cy="182101"/>
          </a:xfrm>
          <a:prstGeom prst="rect">
            <a:avLst/>
          </a:prstGeom>
        </p:spPr>
        <p:txBody>
          <a:bodyPr vert="horz" wrap="square" lIns="0" tIns="12700" rIns="0" bIns="0" rtlCol="0">
            <a:spAutoFit/>
          </a:bodyPr>
          <a:lstStyle/>
          <a:p>
            <a:pPr marL="40005">
              <a:lnSpc>
                <a:spcPct val="100000"/>
              </a:lnSpc>
              <a:spcBef>
                <a:spcPts val="100"/>
              </a:spcBef>
            </a:pPr>
            <a:r>
              <a:rPr sz="1100" dirty="0">
                <a:latin typeface="Times New Roman"/>
                <a:cs typeface="Times New Roman"/>
              </a:rPr>
              <a:t>(</a:t>
            </a:r>
            <a:r>
              <a:rPr sz="1100">
                <a:latin typeface="Times New Roman"/>
                <a:cs typeface="Times New Roman"/>
              </a:rPr>
              <a:t>Figure</a:t>
            </a:r>
            <a:r>
              <a:rPr sz="1100" spc="-5">
                <a:latin typeface="Times New Roman"/>
                <a:cs typeface="Times New Roman"/>
              </a:rPr>
              <a:t> </a:t>
            </a:r>
            <a:r>
              <a:rPr lang="en-IN" sz="1100" spc="-5" dirty="0">
                <a:latin typeface="Times New Roman"/>
                <a:cs typeface="Times New Roman"/>
              </a:rPr>
              <a:t>6</a:t>
            </a:r>
            <a:r>
              <a:rPr sz="1100" smtClean="0">
                <a:latin typeface="Times New Roman"/>
                <a:cs typeface="Times New Roman"/>
              </a:rPr>
              <a:t>– </a:t>
            </a:r>
            <a:r>
              <a:rPr sz="1100" dirty="0">
                <a:latin typeface="Times New Roman"/>
                <a:cs typeface="Times New Roman"/>
              </a:rPr>
              <a:t>Using</a:t>
            </a:r>
            <a:r>
              <a:rPr sz="1100" spc="-5" dirty="0">
                <a:latin typeface="Times New Roman"/>
                <a:cs typeface="Times New Roman"/>
              </a:rPr>
              <a:t> </a:t>
            </a:r>
            <a:r>
              <a:rPr sz="1100" dirty="0">
                <a:latin typeface="Times New Roman"/>
                <a:cs typeface="Times New Roman"/>
              </a:rPr>
              <a:t>this I</a:t>
            </a:r>
            <a:r>
              <a:rPr sz="1100" spc="-5" dirty="0">
                <a:latin typeface="Times New Roman"/>
                <a:cs typeface="Times New Roman"/>
              </a:rPr>
              <a:t> </a:t>
            </a:r>
            <a:r>
              <a:rPr sz="1100" dirty="0">
                <a:latin typeface="Times New Roman"/>
                <a:cs typeface="Times New Roman"/>
              </a:rPr>
              <a:t>can</a:t>
            </a:r>
            <a:r>
              <a:rPr sz="1100" spc="-10" dirty="0">
                <a:latin typeface="Times New Roman"/>
                <a:cs typeface="Times New Roman"/>
              </a:rPr>
              <a:t> </a:t>
            </a:r>
            <a:r>
              <a:rPr sz="1100" dirty="0">
                <a:latin typeface="Times New Roman"/>
                <a:cs typeface="Times New Roman"/>
              </a:rPr>
              <a:t>create</a:t>
            </a:r>
            <a:r>
              <a:rPr sz="1100" spc="-10" dirty="0">
                <a:latin typeface="Times New Roman"/>
                <a:cs typeface="Times New Roman"/>
              </a:rPr>
              <a:t> </a:t>
            </a:r>
            <a:r>
              <a:rPr sz="1100" dirty="0">
                <a:latin typeface="Times New Roman"/>
                <a:cs typeface="Times New Roman"/>
              </a:rPr>
              <a:t>rooms</a:t>
            </a:r>
            <a:r>
              <a:rPr sz="1100" spc="-10" dirty="0">
                <a:latin typeface="Times New Roman"/>
                <a:cs typeface="Times New Roman"/>
              </a:rPr>
              <a:t> </a:t>
            </a:r>
            <a:r>
              <a:rPr sz="1100" dirty="0">
                <a:latin typeface="Times New Roman"/>
                <a:cs typeface="Times New Roman"/>
              </a:rPr>
              <a:t>for</a:t>
            </a:r>
            <a:r>
              <a:rPr sz="1100" spc="-10" dirty="0">
                <a:latin typeface="Times New Roman"/>
                <a:cs typeface="Times New Roman"/>
              </a:rPr>
              <a:t> </a:t>
            </a:r>
            <a:r>
              <a:rPr sz="1100" dirty="0">
                <a:latin typeface="Times New Roman"/>
                <a:cs typeface="Times New Roman"/>
              </a:rPr>
              <a:t>that </a:t>
            </a:r>
            <a:r>
              <a:rPr sz="1100" spc="-20">
                <a:latin typeface="Times New Roman"/>
                <a:cs typeface="Times New Roman"/>
              </a:rPr>
              <a:t>user</a:t>
            </a:r>
            <a:r>
              <a:rPr sz="1100" spc="-20" smtClean="0">
                <a:latin typeface="Times New Roman"/>
                <a:cs typeface="Times New Roman"/>
              </a:rPr>
              <a:t>)</a:t>
            </a:r>
            <a:endParaRPr sz="1100">
              <a:latin typeface="Times New Roman"/>
              <a:cs typeface="Times New Roman"/>
            </a:endParaRPr>
          </a:p>
        </p:txBody>
      </p:sp>
      <p:pic>
        <p:nvPicPr>
          <p:cNvPr id="8" name="object 4"/>
          <p:cNvPicPr/>
          <p:nvPr/>
        </p:nvPicPr>
        <p:blipFill>
          <a:blip r:embed="rId2" cstate="print"/>
          <a:stretch>
            <a:fillRect/>
          </a:stretch>
        </p:blipFill>
        <p:spPr>
          <a:xfrm>
            <a:off x="1606913" y="1800808"/>
            <a:ext cx="5943600" cy="2526895"/>
          </a:xfrm>
          <a:prstGeom prst="rect">
            <a:avLst/>
          </a:prstGeom>
        </p:spPr>
      </p:pic>
      <p:pic>
        <p:nvPicPr>
          <p:cNvPr id="9" name="object 5"/>
          <p:cNvPicPr/>
          <p:nvPr/>
        </p:nvPicPr>
        <p:blipFill>
          <a:blip r:embed="rId3" cstate="print"/>
          <a:stretch>
            <a:fillRect/>
          </a:stretch>
        </p:blipFill>
        <p:spPr>
          <a:xfrm>
            <a:off x="1688841" y="5051442"/>
            <a:ext cx="5943600" cy="16244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effectLst>
                  <a:reflection blurRad="6350" stA="55000" endA="300" endPos="45500" dir="5400000" sy="-100000" algn="bl" rotWithShape="0"/>
                </a:effectLst>
                <a:latin typeface="Times New Roman" pitchFamily="18" charset="0"/>
                <a:cs typeface="Times New Roman" pitchFamily="18" charset="0"/>
              </a:rPr>
              <a:t> </a:t>
            </a:r>
            <a:r>
              <a:rPr lang="en-IN" dirty="0" smtClean="0">
                <a:effectLst>
                  <a:reflection blurRad="6350" stA="55000" endA="300" endPos="45500" dir="5400000" sy="-100000" algn="bl" rotWithShape="0"/>
                </a:effectLst>
                <a:latin typeface="Times New Roman" pitchFamily="18" charset="0"/>
                <a:cs typeface="Times New Roman" pitchFamily="18" charset="0"/>
              </a:rPr>
              <a:t>User interface</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pic>
        <p:nvPicPr>
          <p:cNvPr id="1026" name="Picture 2"/>
          <p:cNvPicPr>
            <a:picLocks noGrp="1" noChangeAspect="1" noChangeArrowheads="1"/>
          </p:cNvPicPr>
          <p:nvPr>
            <p:ph sz="quarter" idx="1"/>
          </p:nvPr>
        </p:nvPicPr>
        <p:blipFill>
          <a:blip r:embed="rId2"/>
          <a:srcRect/>
          <a:stretch>
            <a:fillRect/>
          </a:stretch>
        </p:blipFill>
        <p:spPr bwMode="auto">
          <a:xfrm>
            <a:off x="914400" y="1818350"/>
            <a:ext cx="7772400" cy="4165521"/>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r>
              <a:rPr lang="en-IN" dirty="0" smtClean="0"/>
              <a:t>User Profile</a:t>
            </a:r>
            <a:endParaRPr lang="en-US" dirty="0"/>
          </a:p>
        </p:txBody>
      </p:sp>
      <p:pic>
        <p:nvPicPr>
          <p:cNvPr id="2050" name="Picture 2"/>
          <p:cNvPicPr>
            <a:picLocks noGrp="1" noChangeAspect="1" noChangeArrowheads="1"/>
          </p:cNvPicPr>
          <p:nvPr>
            <p:ph sz="quarter" idx="1"/>
          </p:nvPr>
        </p:nvPicPr>
        <p:blipFill>
          <a:blip r:embed="rId2"/>
          <a:srcRect/>
          <a:stretch>
            <a:fillRect/>
          </a:stretch>
        </p:blipFill>
        <p:spPr bwMode="auto">
          <a:xfrm>
            <a:off x="993648" y="2098269"/>
            <a:ext cx="7772400" cy="4201954"/>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r>
              <a:rPr lang="en-IN" dirty="0" smtClean="0"/>
              <a:t>Dashboard</a:t>
            </a:r>
            <a:endParaRPr lang="en-US" dirty="0"/>
          </a:p>
        </p:txBody>
      </p:sp>
      <p:pic>
        <p:nvPicPr>
          <p:cNvPr id="3074" name="Picture 2"/>
          <p:cNvPicPr>
            <a:picLocks noGrp="1" noChangeAspect="1" noChangeArrowheads="1"/>
          </p:cNvPicPr>
          <p:nvPr>
            <p:ph sz="quarter" idx="1"/>
          </p:nvPr>
        </p:nvPicPr>
        <p:blipFill>
          <a:blip r:embed="rId2"/>
          <a:srcRect/>
          <a:stretch>
            <a:fillRect/>
          </a:stretch>
        </p:blipFill>
        <p:spPr bwMode="auto">
          <a:xfrm>
            <a:off x="802433" y="2048065"/>
            <a:ext cx="7772400" cy="4193858"/>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effectLst>
                  <a:reflection blurRad="6350" stA="55000" endA="300" endPos="45500" dir="5400000" sy="-100000" algn="bl" rotWithShape="0"/>
                </a:effectLst>
                <a:latin typeface="Times New Roman" pitchFamily="18" charset="0"/>
                <a:cs typeface="Times New Roman" pitchFamily="18" charset="0"/>
              </a:rPr>
              <a:t>Risks &amp; Solutions</a:t>
            </a:r>
          </a:p>
        </p:txBody>
      </p:sp>
      <p:sp>
        <p:nvSpPr>
          <p:cNvPr id="3" name="Content Placeholder 2"/>
          <p:cNvSpPr>
            <a:spLocks noGrp="1"/>
          </p:cNvSpPr>
          <p:nvPr>
            <p:ph sz="quarter" idx="1"/>
          </p:nvPr>
        </p:nvSpPr>
        <p:spPr>
          <a:xfrm>
            <a:off x="914400" y="1426464"/>
            <a:ext cx="7772400" cy="4572000"/>
          </a:xfrm>
        </p:spPr>
        <p:txBody>
          <a:bodyPr/>
          <a:lstStyle/>
          <a:p>
            <a:pPr>
              <a:buFont typeface="Wingdings" pitchFamily="2" charset="2"/>
              <a:buChar char="v"/>
            </a:pPr>
            <a:r>
              <a:rPr smtClean="0">
                <a:latin typeface="Times New Roman" pitchFamily="18" charset="0"/>
                <a:cs typeface="Times New Roman" pitchFamily="18" charset="0"/>
              </a:rPr>
              <a:t>Sensor </a:t>
            </a:r>
            <a:r>
              <a:rPr>
                <a:latin typeface="Times New Roman" pitchFamily="18" charset="0"/>
                <a:cs typeface="Times New Roman" pitchFamily="18" charset="0"/>
              </a:rPr>
              <a:t>Failure → Backup sensors, maintenance.</a:t>
            </a:r>
          </a:p>
          <a:p>
            <a:pPr>
              <a:buFont typeface="Wingdings" pitchFamily="2" charset="2"/>
              <a:buChar char="v"/>
            </a:pPr>
            <a:r>
              <a:rPr smtClean="0">
                <a:latin typeface="Times New Roman" pitchFamily="18" charset="0"/>
                <a:cs typeface="Times New Roman" pitchFamily="18" charset="0"/>
              </a:rPr>
              <a:t>Power </a:t>
            </a:r>
            <a:r>
              <a:rPr>
                <a:latin typeface="Times New Roman" pitchFamily="18" charset="0"/>
                <a:cs typeface="Times New Roman" pitchFamily="18" charset="0"/>
              </a:rPr>
              <a:t>Failure → Battery backups, UPS.</a:t>
            </a:r>
          </a:p>
          <a:p>
            <a:pPr>
              <a:buFont typeface="Wingdings" pitchFamily="2" charset="2"/>
              <a:buChar char="v"/>
            </a:pPr>
            <a:r>
              <a:rPr smtClean="0">
                <a:latin typeface="Times New Roman" pitchFamily="18" charset="0"/>
                <a:cs typeface="Times New Roman" pitchFamily="18" charset="0"/>
              </a:rPr>
              <a:t>Network </a:t>
            </a:r>
            <a:r>
              <a:rPr>
                <a:latin typeface="Times New Roman" pitchFamily="18" charset="0"/>
                <a:cs typeface="Times New Roman" pitchFamily="18" charset="0"/>
              </a:rPr>
              <a:t>Issue → Offline mode, auto-reconnect.</a:t>
            </a:r>
          </a:p>
          <a:p>
            <a:pPr>
              <a:buFont typeface="Wingdings" pitchFamily="2" charset="2"/>
              <a:buChar char="v"/>
            </a:pPr>
            <a:r>
              <a:rPr smtClean="0">
                <a:latin typeface="Times New Roman" pitchFamily="18" charset="0"/>
                <a:cs typeface="Times New Roman" pitchFamily="18" charset="0"/>
              </a:rPr>
              <a:t>Data </a:t>
            </a:r>
            <a:r>
              <a:rPr>
                <a:latin typeface="Times New Roman" pitchFamily="18" charset="0"/>
                <a:cs typeface="Times New Roman" pitchFamily="18" charset="0"/>
              </a:rPr>
              <a:t>Loss → Cloud backups, redundancy.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CONCLUSION &amp; FUTURE ENHANCEMENTS</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lgn="just">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Provides real-time security monitoring.</a:t>
            </a:r>
          </a:p>
          <a:p>
            <a:pPr algn="just">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Enhancements: AI-based detection, voice control.</a:t>
            </a:r>
          </a:p>
          <a:p>
            <a:pPr algn="just">
              <a:buFont typeface="Wingdings" pitchFamily="2" charset="2"/>
              <a:buChar char="v"/>
            </a:pPr>
            <a:r>
              <a:rPr lang="en-US" dirty="0" smtClean="0">
                <a:latin typeface="Times New Roman" pitchFamily="18" charset="0"/>
                <a:cs typeface="Times New Roman" pitchFamily="18" charset="0"/>
              </a:rPr>
              <a:t> Future upgrades include AI-based detection, mobile app integration, and smart home automation for improved reliability.</a:t>
            </a:r>
            <a:endParaRPr>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IN" dirty="0" smtClean="0"/>
              <a:t> </a:t>
            </a:r>
            <a:endParaRPr lang="en-US" dirty="0"/>
          </a:p>
        </p:txBody>
      </p:sp>
      <p:sp>
        <p:nvSpPr>
          <p:cNvPr id="3" name="Title 2"/>
          <p:cNvSpPr>
            <a:spLocks noGrp="1"/>
          </p:cNvSpPr>
          <p:nvPr>
            <p:ph type="title"/>
          </p:nvPr>
        </p:nvSpPr>
        <p:spPr/>
        <p:txBody>
          <a:bodyPr>
            <a:normAutofit fontScale="90000"/>
          </a:bodyPr>
          <a:lstStyle/>
          <a:p>
            <a:pPr algn="ctr"/>
            <a: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t/>
            </a:r>
            <a:b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br>
            <a:r>
              <a:rPr lang="en-US" dirty="0" smtClean="0">
                <a:solidFill>
                  <a:schemeClr val="tx1">
                    <a:lumMod val="95000"/>
                    <a:lumOff val="5000"/>
                  </a:schemeClr>
                </a:solidFill>
              </a:rPr>
              <a:t>Thank you</a:t>
            </a:r>
            <a: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t/>
            </a:r>
            <a:b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b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209</TotalTime>
  <Words>512</Words>
  <Application>Microsoft Macintosh PowerPoint</Application>
  <PresentationFormat>On-screen Show (4:3)</PresentationFormat>
  <Paragraphs>72</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Median</vt:lpstr>
      <vt:lpstr>Home Security System with Server Monitoring and Automation Control</vt:lpstr>
      <vt:lpstr>  ABSTRACT</vt:lpstr>
      <vt:lpstr>EXISITING SYSTEM</vt:lpstr>
      <vt:lpstr>Proposed System</vt:lpstr>
      <vt:lpstr>Advantages of Proposed System</vt:lpstr>
      <vt:lpstr>Methodology Used</vt:lpstr>
      <vt:lpstr>Screenshots of Proposed System </vt:lpstr>
      <vt:lpstr> Register page</vt:lpstr>
      <vt:lpstr> </vt:lpstr>
      <vt:lpstr>Devices &amp; Add Rooms</vt:lpstr>
      <vt:lpstr> User interface</vt:lpstr>
      <vt:lpstr> User Profile</vt:lpstr>
      <vt:lpstr> Dashboard</vt:lpstr>
      <vt:lpstr>Risks &amp; Solutions</vt:lpstr>
      <vt:lpstr>CONCLUSION &amp; FUTURE ENHANCEMENTS</vt:lpstr>
      <vt:lpstr> Thank you </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Home Security System</dc:title>
  <dc:creator>lok 8</dc:creator>
  <dc:description>generated using python-pptx</dc:description>
  <cp:lastModifiedBy>DELL</cp:lastModifiedBy>
  <cp:revision>30</cp:revision>
  <dcterms:created xsi:type="dcterms:W3CDTF">2013-01-27T09:14:16Z</dcterms:created>
  <dcterms:modified xsi:type="dcterms:W3CDTF">2025-04-10T07:12:31Z</dcterms:modified>
</cp:coreProperties>
</file>